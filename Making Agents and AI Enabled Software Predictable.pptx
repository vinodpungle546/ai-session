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Heebo"/>
      <p:regular r:id="rId30"/>
      <p:bold r:id="rId31"/>
    </p:embeddedFont>
    <p:embeddedFont>
      <p:font typeface="Heebo Light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jf1tIdvcZuFx0tgpP8Ia2BF090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75D88B-E420-4B70-8462-ACC54954345F}">
  <a:tblStyle styleId="{FA75D88B-E420-4B70-8462-ACC54954345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ebo-bold.fntdata"/><Relationship Id="rId30" Type="http://schemas.openxmlformats.org/officeDocument/2006/relationships/font" Target="fonts/Heebo-regular.fntdata"/><Relationship Id="rId11" Type="http://schemas.openxmlformats.org/officeDocument/2006/relationships/slide" Target="slides/slide6.xml"/><Relationship Id="rId33" Type="http://schemas.openxmlformats.org/officeDocument/2006/relationships/font" Target="fonts/HeeboLight-bold.fntdata"/><Relationship Id="rId10" Type="http://schemas.openxmlformats.org/officeDocument/2006/relationships/slide" Target="slides/slide5.xml"/><Relationship Id="rId32" Type="http://schemas.openxmlformats.org/officeDocument/2006/relationships/font" Target="fonts/HeeboLight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a86d56d66_0_1896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a86d56d66_0_1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7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8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a86d56d66_0_868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fa86d56d66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a86d56d66_0_903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g3fa86d56d66_0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a86d56d66_0_907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3fa86d56d66_0_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fa86d56d66_0_971:notes"/>
          <p:cNvSpPr/>
          <p:nvPr>
            <p:ph idx="2" type="sldImg"/>
          </p:nvPr>
        </p:nvSpPr>
        <p:spPr>
          <a:xfrm>
            <a:off x="961793" y="685794"/>
            <a:ext cx="4935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g3fa86d56d66_0_971:notes"/>
          <p:cNvSpPr txBox="1"/>
          <p:nvPr>
            <p:ph idx="1" type="body"/>
          </p:nvPr>
        </p:nvSpPr>
        <p:spPr>
          <a:xfrm>
            <a:off x="685795" y="4343382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a86d56d66_0_1935:notes"/>
          <p:cNvSpPr/>
          <p:nvPr>
            <p:ph idx="2" type="sldImg"/>
          </p:nvPr>
        </p:nvSpPr>
        <p:spPr>
          <a:xfrm>
            <a:off x="38131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fa86d56d66_0_1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">
  <p:cSld name="CUSTOM_3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1"/>
          <p:cNvPicPr preferRelativeResize="0"/>
          <p:nvPr/>
        </p:nvPicPr>
        <p:blipFill rotWithShape="1">
          <a:blip r:embed="rId2">
            <a:alphaModFix/>
          </a:blip>
          <a:srcRect b="7765" l="17195" r="22022" t="5180"/>
          <a:stretch/>
        </p:blipFill>
        <p:spPr>
          <a:xfrm>
            <a:off x="827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1373" y="1155531"/>
            <a:ext cx="1272749" cy="370350"/>
          </a:xfrm>
          <a:prstGeom prst="rect">
            <a:avLst/>
          </a:prstGeom>
          <a:noFill/>
          <a:ln>
            <a:noFill/>
          </a:ln>
          <a:effectLst>
            <a:outerShdw blurRad="14288" rotWithShape="0" algn="bl" dir="4500000" dist="19050">
              <a:srgbClr val="000000">
                <a:alpha val="32549"/>
              </a:srgbClr>
            </a:outerShdw>
          </a:effectLst>
        </p:spPr>
      </p:pic>
      <p:pic>
        <p:nvPicPr>
          <p:cNvPr id="12" name="Google Shape;12;p21"/>
          <p:cNvPicPr preferRelativeResize="0"/>
          <p:nvPr/>
        </p:nvPicPr>
        <p:blipFill rotWithShape="1">
          <a:blip r:embed="rId4">
            <a:alphaModFix/>
          </a:blip>
          <a:srcRect b="1339" l="-17364" r="36149" t="81824"/>
          <a:stretch/>
        </p:blipFill>
        <p:spPr>
          <a:xfrm rot="10800000">
            <a:off x="-6525" y="4403250"/>
            <a:ext cx="3495200" cy="74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476012" y="4059713"/>
            <a:ext cx="802456" cy="827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1"/>
          <p:cNvPicPr preferRelativeResize="0"/>
          <p:nvPr/>
        </p:nvPicPr>
        <p:blipFill rotWithShape="1">
          <a:blip r:embed="rId4">
            <a:alphaModFix/>
          </a:blip>
          <a:srcRect b="1341" l="-17364" r="-2224" t="1515"/>
          <a:stretch/>
        </p:blipFill>
        <p:spPr>
          <a:xfrm rot="10800000">
            <a:off x="867500" y="4283229"/>
            <a:ext cx="802473" cy="671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3">
            <a:off x="5865439" y="756401"/>
            <a:ext cx="2958825" cy="379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5983" y="756400"/>
            <a:ext cx="2712354" cy="37082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1"/>
          <p:cNvSpPr txBox="1"/>
          <p:nvPr>
            <p:ph type="title"/>
          </p:nvPr>
        </p:nvSpPr>
        <p:spPr>
          <a:xfrm>
            <a:off x="1368225" y="1602700"/>
            <a:ext cx="5851800" cy="1918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4500000" dist="19050">
              <a:srgbClr val="000000">
                <a:alpha val="3254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6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1"/>
          <p:cNvSpPr/>
          <p:nvPr>
            <p:ph idx="2" type="pic"/>
          </p:nvPr>
        </p:nvSpPr>
        <p:spPr>
          <a:xfrm>
            <a:off x="2950275" y="1139550"/>
            <a:ext cx="1154700" cy="402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cxnSp>
        <p:nvCxnSpPr>
          <p:cNvPr id="19" name="Google Shape;19;p21"/>
          <p:cNvCxnSpPr/>
          <p:nvPr/>
        </p:nvCxnSpPr>
        <p:spPr>
          <a:xfrm>
            <a:off x="2793676" y="1160861"/>
            <a:ext cx="0" cy="359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C Two Headers - Top Gradient">
  <p:cSld name="CUSTOM_38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2"/>
          <p:cNvPicPr preferRelativeResize="0"/>
          <p:nvPr/>
        </p:nvPicPr>
        <p:blipFill rotWithShape="1">
          <a:blip r:embed="rId2">
            <a:alphaModFix amt="50000"/>
          </a:blip>
          <a:srcRect b="7757" l="13207" r="48187" t="37658"/>
          <a:stretch/>
        </p:blipFill>
        <p:spPr>
          <a:xfrm flipH="1">
            <a:off x="-1" y="0"/>
            <a:ext cx="1537751" cy="273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2"/>
          <p:cNvPicPr preferRelativeResize="0"/>
          <p:nvPr/>
        </p:nvPicPr>
        <p:blipFill rotWithShape="1">
          <a:blip r:embed="rId3">
            <a:alphaModFix amt="41000"/>
          </a:blip>
          <a:srcRect b="24464" l="2542" r="45685" t="6660"/>
          <a:stretch/>
        </p:blipFill>
        <p:spPr>
          <a:xfrm flipH="1">
            <a:off x="5736442" y="-9819"/>
            <a:ext cx="3416225" cy="29519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2"/>
          <p:cNvSpPr/>
          <p:nvPr/>
        </p:nvSpPr>
        <p:spPr>
          <a:xfrm>
            <a:off x="283623" y="445363"/>
            <a:ext cx="148175" cy="219450"/>
          </a:xfrm>
          <a:custGeom>
            <a:rect b="b" l="l" r="r" t="t"/>
            <a:pathLst>
              <a:path extrusionOk="0" h="2442" w="1649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gradFill>
            <a:gsLst>
              <a:gs pos="0">
                <a:srgbClr val="40D975"/>
              </a:gs>
              <a:gs pos="100000">
                <a:srgbClr val="25EF99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2"/>
          <p:cNvSpPr txBox="1"/>
          <p:nvPr>
            <p:ph idx="1" type="body"/>
          </p:nvPr>
        </p:nvSpPr>
        <p:spPr>
          <a:xfrm>
            <a:off x="566928" y="919850"/>
            <a:ext cx="3832800" cy="3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" name="Google Shape;25;p22"/>
          <p:cNvSpPr txBox="1"/>
          <p:nvPr>
            <p:ph idx="2" type="subTitle"/>
          </p:nvPr>
        </p:nvSpPr>
        <p:spPr>
          <a:xfrm>
            <a:off x="549053" y="219425"/>
            <a:ext cx="790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type="title"/>
          </p:nvPr>
        </p:nvSpPr>
        <p:spPr>
          <a:xfrm>
            <a:off x="549832" y="418750"/>
            <a:ext cx="79035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2"/>
          <p:cNvSpPr/>
          <p:nvPr/>
        </p:nvSpPr>
        <p:spPr>
          <a:xfrm>
            <a:off x="243900" y="4928300"/>
            <a:ext cx="1606800" cy="1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6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" name="Google Shape;31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" name="Google Shape;3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C Two Headers - Side Gradient">
  <p:cSld name="CUSTOM_38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0"/>
          <p:cNvPicPr preferRelativeResize="0"/>
          <p:nvPr/>
        </p:nvPicPr>
        <p:blipFill rotWithShape="1">
          <a:blip r:embed="rId2">
            <a:alphaModFix amt="50000"/>
          </a:blip>
          <a:srcRect b="7757" l="13207" r="48187" t="37658"/>
          <a:stretch/>
        </p:blipFill>
        <p:spPr>
          <a:xfrm flipH="1">
            <a:off x="-1" y="0"/>
            <a:ext cx="1537751" cy="273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0"/>
          <p:cNvPicPr preferRelativeResize="0"/>
          <p:nvPr/>
        </p:nvPicPr>
        <p:blipFill rotWithShape="1">
          <a:blip r:embed="rId3">
            <a:alphaModFix amt="60000"/>
          </a:blip>
          <a:srcRect b="0" l="34559" r="0" t="0"/>
          <a:stretch/>
        </p:blipFill>
        <p:spPr>
          <a:xfrm>
            <a:off x="3071125" y="0"/>
            <a:ext cx="607287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0"/>
          <p:cNvSpPr/>
          <p:nvPr/>
        </p:nvSpPr>
        <p:spPr>
          <a:xfrm>
            <a:off x="283623" y="445363"/>
            <a:ext cx="148175" cy="219450"/>
          </a:xfrm>
          <a:custGeom>
            <a:rect b="b" l="l" r="r" t="t"/>
            <a:pathLst>
              <a:path extrusionOk="0" h="2442" w="1649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gradFill>
            <a:gsLst>
              <a:gs pos="0">
                <a:srgbClr val="40D975"/>
              </a:gs>
              <a:gs pos="100000">
                <a:srgbClr val="25EF99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0"/>
          <p:cNvSpPr txBox="1"/>
          <p:nvPr>
            <p:ph idx="1" type="body"/>
          </p:nvPr>
        </p:nvSpPr>
        <p:spPr>
          <a:xfrm>
            <a:off x="566928" y="919850"/>
            <a:ext cx="3832800" cy="3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40"/>
          <p:cNvSpPr txBox="1"/>
          <p:nvPr>
            <p:ph idx="2" type="subTitle"/>
          </p:nvPr>
        </p:nvSpPr>
        <p:spPr>
          <a:xfrm>
            <a:off x="549053" y="219425"/>
            <a:ext cx="790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" name="Google Shape;39;p40"/>
          <p:cNvSpPr txBox="1"/>
          <p:nvPr>
            <p:ph type="title"/>
          </p:nvPr>
        </p:nvSpPr>
        <p:spPr>
          <a:xfrm>
            <a:off x="549832" y="418750"/>
            <a:ext cx="79035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.1. Single Header content 1C">
  <p:cSld name="CUSTOM_40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2"/>
          <p:cNvSpPr txBox="1"/>
          <p:nvPr>
            <p:ph idx="1" type="body"/>
          </p:nvPr>
        </p:nvSpPr>
        <p:spPr>
          <a:xfrm>
            <a:off x="1027750" y="919850"/>
            <a:ext cx="3613200" cy="3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6" name="Google Shape;46;p42"/>
          <p:cNvSpPr txBox="1"/>
          <p:nvPr>
            <p:ph type="title"/>
          </p:nvPr>
        </p:nvSpPr>
        <p:spPr>
          <a:xfrm>
            <a:off x="1027750" y="336675"/>
            <a:ext cx="38787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42"/>
          <p:cNvSpPr/>
          <p:nvPr/>
        </p:nvSpPr>
        <p:spPr>
          <a:xfrm>
            <a:off x="389253" y="275936"/>
            <a:ext cx="558300" cy="558300"/>
          </a:xfrm>
          <a:prstGeom prst="ellipse">
            <a:avLst/>
          </a:prstGeom>
          <a:gradFill>
            <a:gsLst>
              <a:gs pos="0">
                <a:srgbClr val="35F6CA"/>
              </a:gs>
              <a:gs pos="100000">
                <a:srgbClr val="D1F17E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2"/>
          <p:cNvSpPr/>
          <p:nvPr/>
        </p:nvSpPr>
        <p:spPr>
          <a:xfrm>
            <a:off x="283694" y="444686"/>
            <a:ext cx="220800" cy="220800"/>
          </a:xfrm>
          <a:prstGeom prst="ellipse">
            <a:avLst/>
          </a:prstGeom>
          <a:gradFill>
            <a:gsLst>
              <a:gs pos="0">
                <a:srgbClr val="35F6CA"/>
              </a:gs>
              <a:gs pos="100000">
                <a:srgbClr val="D1F17E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2"/>
          <p:cNvSpPr/>
          <p:nvPr/>
        </p:nvSpPr>
        <p:spPr>
          <a:xfrm rot="10800000">
            <a:off x="283632" y="444686"/>
            <a:ext cx="220800" cy="220800"/>
          </a:xfrm>
          <a:prstGeom prst="chord">
            <a:avLst>
              <a:gd fmla="val 5417890" name="adj1"/>
              <a:gd fmla="val 15951706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2"/>
          <p:cNvSpPr/>
          <p:nvPr/>
        </p:nvSpPr>
        <p:spPr>
          <a:xfrm>
            <a:off x="389257" y="445272"/>
            <a:ext cx="51622" cy="219627"/>
          </a:xfrm>
          <a:custGeom>
            <a:rect b="b" l="l" r="r" t="t"/>
            <a:pathLst>
              <a:path extrusionOk="0" h="21783" w="5120">
                <a:moveTo>
                  <a:pt x="1559" y="21783"/>
                </a:moveTo>
                <a:cubicBezTo>
                  <a:pt x="709" y="21754"/>
                  <a:pt x="101" y="14608"/>
                  <a:pt x="15" y="10977"/>
                </a:cubicBezTo>
                <a:cubicBezTo>
                  <a:pt x="-71" y="7347"/>
                  <a:pt x="194" y="-29"/>
                  <a:pt x="1044" y="0"/>
                </a:cubicBezTo>
                <a:cubicBezTo>
                  <a:pt x="1895" y="29"/>
                  <a:pt x="5032" y="7519"/>
                  <a:pt x="5118" y="11149"/>
                </a:cubicBezTo>
                <a:cubicBezTo>
                  <a:pt x="5204" y="14780"/>
                  <a:pt x="2410" y="21812"/>
                  <a:pt x="1559" y="2178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3" name="Google Shape;5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" name="Google Shape;57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" name="Google Shape;6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8" name="Google Shape;68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3" name="Google Shape;73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7" name="Google Shape;7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0" name="Google Shape;80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C Two Headers - Top Gradient 1">
  <p:cSld name="CUSTOM_38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3fa86d56d66_0_495"/>
          <p:cNvPicPr preferRelativeResize="0"/>
          <p:nvPr/>
        </p:nvPicPr>
        <p:blipFill rotWithShape="1">
          <a:blip r:embed="rId2">
            <a:alphaModFix amt="13000"/>
          </a:blip>
          <a:srcRect b="38277" l="23674" r="107" t="13902"/>
          <a:stretch/>
        </p:blipFill>
        <p:spPr>
          <a:xfrm rot="10800000">
            <a:off x="4614175" y="-8099"/>
            <a:ext cx="4529825" cy="284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g3fa86d56d66_0_495"/>
          <p:cNvPicPr preferRelativeResize="0"/>
          <p:nvPr/>
        </p:nvPicPr>
        <p:blipFill rotWithShape="1">
          <a:blip r:embed="rId3">
            <a:alphaModFix amt="60000"/>
          </a:blip>
          <a:srcRect b="0" l="0" r="46950" t="63249"/>
          <a:stretch/>
        </p:blipFill>
        <p:spPr>
          <a:xfrm rot="-5400000">
            <a:off x="-209325" y="209325"/>
            <a:ext cx="1808600" cy="13899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fa86d56d66_0_495"/>
          <p:cNvSpPr/>
          <p:nvPr/>
        </p:nvSpPr>
        <p:spPr>
          <a:xfrm flipH="1" rot="10800000">
            <a:off x="-823925" y="-251215"/>
            <a:ext cx="1100237" cy="1663066"/>
          </a:xfrm>
          <a:custGeom>
            <a:rect b="b" l="l" r="r" t="t"/>
            <a:pathLst>
              <a:path extrusionOk="0" h="49666" w="34145">
                <a:moveTo>
                  <a:pt x="2176" y="1"/>
                </a:moveTo>
                <a:cubicBezTo>
                  <a:pt x="1019" y="1"/>
                  <a:pt x="0" y="1122"/>
                  <a:pt x="361" y="2385"/>
                </a:cubicBezTo>
                <a:lnTo>
                  <a:pt x="3937" y="7711"/>
                </a:lnTo>
                <a:cubicBezTo>
                  <a:pt x="10899" y="18059"/>
                  <a:pt x="10899" y="31603"/>
                  <a:pt x="3937" y="41989"/>
                </a:cubicBezTo>
                <a:lnTo>
                  <a:pt x="399" y="47315"/>
                </a:lnTo>
                <a:cubicBezTo>
                  <a:pt x="10" y="48573"/>
                  <a:pt x="1011" y="49666"/>
                  <a:pt x="2160" y="49666"/>
                </a:cubicBezTo>
                <a:cubicBezTo>
                  <a:pt x="2471" y="49666"/>
                  <a:pt x="2793" y="49586"/>
                  <a:pt x="3100" y="49408"/>
                </a:cubicBezTo>
                <a:lnTo>
                  <a:pt x="32927" y="26695"/>
                </a:lnTo>
                <a:cubicBezTo>
                  <a:pt x="34144" y="25782"/>
                  <a:pt x="34144" y="23918"/>
                  <a:pt x="32927" y="23005"/>
                </a:cubicBezTo>
                <a:lnTo>
                  <a:pt x="3100" y="255"/>
                </a:lnTo>
                <a:cubicBezTo>
                  <a:pt x="2798" y="79"/>
                  <a:pt x="2482" y="1"/>
                  <a:pt x="2176" y="1"/>
                </a:cubicBezTo>
                <a:close/>
              </a:path>
            </a:pathLst>
          </a:cu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algn="bl" dist="9525">
              <a:srgbClr val="8DF0D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fa86d56d66_0_495"/>
          <p:cNvSpPr/>
          <p:nvPr/>
        </p:nvSpPr>
        <p:spPr>
          <a:xfrm>
            <a:off x="-1035600" y="-576800"/>
            <a:ext cx="1035600" cy="22458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sp>
        <p:nvSpPr>
          <p:cNvPr id="89" name="Google Shape;89;g3fa86d56d66_0_495"/>
          <p:cNvSpPr txBox="1"/>
          <p:nvPr>
            <p:ph idx="1" type="subTitle"/>
          </p:nvPr>
        </p:nvSpPr>
        <p:spPr>
          <a:xfrm>
            <a:off x="549053" y="219425"/>
            <a:ext cx="790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>
                <a:solidFill>
                  <a:schemeClr val="dk1"/>
                </a:solidFill>
                <a:latin typeface="Heebo Light"/>
                <a:ea typeface="Heebo Light"/>
                <a:cs typeface="Heebo Light"/>
                <a:sym typeface="Heebo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" name="Google Shape;90;g3fa86d56d66_0_495"/>
          <p:cNvSpPr txBox="1"/>
          <p:nvPr>
            <p:ph type="title"/>
          </p:nvPr>
        </p:nvSpPr>
        <p:spPr>
          <a:xfrm>
            <a:off x="549832" y="418750"/>
            <a:ext cx="79035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g3fa86d56d66_0_495"/>
          <p:cNvSpPr txBox="1"/>
          <p:nvPr>
            <p:ph idx="2" type="body"/>
          </p:nvPr>
        </p:nvSpPr>
        <p:spPr>
          <a:xfrm>
            <a:off x="566928" y="919850"/>
            <a:ext cx="3832800" cy="3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fortune.com/2025/07/23/ai-coding-tool-replit-wiped-database-called-it-a-catastrophic-failure/" TargetMode="External"/><Relationship Id="rId4" Type="http://schemas.openxmlformats.org/officeDocument/2006/relationships/hyperlink" Target="https://www.linkedin.com/pulse/ai-said-i-panicked-wiped-entire-production-database-gaurav-singh-17myc/" TargetMode="External"/><Relationship Id="rId5" Type="http://schemas.openxmlformats.org/officeDocument/2006/relationships/hyperlink" Target="https://www.evidentlyai.com/blog/ai-hallucinations-examples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7.gif"/><Relationship Id="rId5" Type="http://schemas.openxmlformats.org/officeDocument/2006/relationships/hyperlink" Target="https://www.globant.com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title"/>
          </p:nvPr>
        </p:nvSpPr>
        <p:spPr>
          <a:xfrm>
            <a:off x="1092000" y="1612350"/>
            <a:ext cx="6823200" cy="1918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4500000" dist="19050">
              <a:srgbClr val="000000">
                <a:alpha val="3254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200"/>
              <a:t>Making Agents and AI Enabled Software Predictable</a:t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200"/>
          </a:p>
        </p:txBody>
      </p:sp>
      <p:sp>
        <p:nvSpPr>
          <p:cNvPr id="97" name="Google Shape;97;p1"/>
          <p:cNvSpPr txBox="1"/>
          <p:nvPr>
            <p:ph idx="4294967295" type="subTitle"/>
          </p:nvPr>
        </p:nvSpPr>
        <p:spPr>
          <a:xfrm>
            <a:off x="1368225" y="4029300"/>
            <a:ext cx="465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Sept 2026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867400" y="3118800"/>
            <a:ext cx="41859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-"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 Vinod Pungle</a:t>
            </a:r>
            <a:endParaRPr b="1" sz="1500">
              <a:solidFill>
                <a:srgbClr val="FFFFFF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</a:rPr>
              <a:t>Tech PM L2, </a:t>
            </a: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IIM </a:t>
            </a:r>
            <a:r>
              <a:rPr b="1" lang="en" sz="1300">
                <a:solidFill>
                  <a:srgbClr val="FFFFFF"/>
                </a:solidFill>
              </a:rPr>
              <a:t>Alumni</a:t>
            </a: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(ECP- AI ML)</a:t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PMP, PMI</a:t>
            </a:r>
            <a:r>
              <a:rPr b="1" lang="en" sz="1300">
                <a:solidFill>
                  <a:srgbClr val="FFFFFF"/>
                </a:solidFill>
              </a:rPr>
              <a:t>-</a:t>
            </a: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ACP, SAFe Agilist, CSM</a:t>
            </a:r>
            <a:b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>
            <p:ph idx="2" type="pic"/>
          </p:nvPr>
        </p:nvSpPr>
        <p:spPr>
          <a:xfrm>
            <a:off x="2950275" y="1139550"/>
            <a:ext cx="1154700" cy="402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/>
          <p:nvPr>
            <p:ph type="title"/>
          </p:nvPr>
        </p:nvSpPr>
        <p:spPr>
          <a:xfrm>
            <a:off x="519857" y="278950"/>
            <a:ext cx="790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59800" y="645675"/>
            <a:ext cx="851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40450" y="843575"/>
            <a:ext cx="8385600" cy="626700"/>
          </a:xfrm>
          <a:prstGeom prst="roundRect">
            <a:avLst>
              <a:gd fmla="val 10000" name="adj"/>
            </a:avLst>
          </a:prstGeom>
          <a:solidFill>
            <a:srgbClr val="F2F2F2"/>
          </a:solidFill>
          <a:ln cap="flat" cmpd="sng" w="1087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3"/>
              <a:buFont typeface="Arial"/>
              <a:buNone/>
            </a:pPr>
            <a:r>
              <a:t/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823206" y="1000279"/>
            <a:ext cx="281100" cy="313500"/>
          </a:xfrm>
          <a:prstGeom prst="ellipse">
            <a:avLst/>
          </a:prstGeom>
          <a:solidFill>
            <a:srgbClr val="36454F"/>
          </a:solidFill>
          <a:ln cap="flat" cmpd="sng" w="10875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3"/>
              <a:buFont typeface="Arial"/>
              <a:buNone/>
            </a:pPr>
            <a:r>
              <a:t/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23206" y="1000279"/>
            <a:ext cx="281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8"/>
              <a:buFont typeface="Calibri"/>
              <a:buNone/>
            </a:pPr>
            <a:r>
              <a:rPr b="1" i="0" lang="en" sz="9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244950" y="843575"/>
            <a:ext cx="23193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28"/>
              <a:buFont typeface="Calibri"/>
              <a:buNone/>
            </a:pPr>
            <a:r>
              <a:rPr b="1" i="0" lang="en" sz="94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The problem, live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3627806" y="843575"/>
            <a:ext cx="42174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7"/>
              <a:buFont typeface="Calibri"/>
              <a:buNone/>
            </a:pPr>
            <a:r>
              <a:rPr b="0" i="0" lang="en" sz="94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Same instruction </a:t>
            </a:r>
            <a:r>
              <a:rPr lang="en" sz="943">
                <a:solidFill>
                  <a:srgbClr val="212121"/>
                </a:solidFill>
              </a:rPr>
              <a:t>is successful every time </a:t>
            </a:r>
            <a:r>
              <a:rPr b="0" i="0" lang="en" sz="94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even when not sure or gives wrong answer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640450" y="1533072"/>
            <a:ext cx="8385600" cy="626700"/>
          </a:xfrm>
          <a:prstGeom prst="roundRect">
            <a:avLst>
              <a:gd fmla="val 10000" name="adj"/>
            </a:avLst>
          </a:prstGeom>
          <a:solidFill>
            <a:srgbClr val="F2F2F2"/>
          </a:solidFill>
          <a:ln cap="flat" cmpd="sng" w="1087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3"/>
              <a:buFont typeface="Arial"/>
              <a:buNone/>
            </a:pPr>
            <a:r>
              <a:t/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823206" y="1689776"/>
            <a:ext cx="281100" cy="313500"/>
          </a:xfrm>
          <a:prstGeom prst="ellipse">
            <a:avLst/>
          </a:prstGeom>
          <a:solidFill>
            <a:srgbClr val="36454F"/>
          </a:solidFill>
          <a:ln cap="flat" cmpd="sng" w="10875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3"/>
              <a:buFont typeface="Arial"/>
              <a:buNone/>
            </a:pPr>
            <a:r>
              <a:t/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823206" y="1689776"/>
            <a:ext cx="281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8"/>
              <a:buFont typeface="Calibri"/>
              <a:buNone/>
            </a:pPr>
            <a:r>
              <a:rPr b="1" i="0" lang="en" sz="9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244950" y="1533072"/>
            <a:ext cx="23193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28"/>
              <a:buFont typeface="Calibri"/>
              <a:buNone/>
            </a:pPr>
            <a:r>
              <a:rPr b="1" i="0" lang="en" sz="94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Anatomy and the harness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3627806" y="1533072"/>
            <a:ext cx="42174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7"/>
              <a:buFont typeface="Calibri"/>
              <a:buNone/>
            </a:pPr>
            <a:r>
              <a:rPr b="0" i="0" lang="en" sz="94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What is inside an agent, and which part you actually own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40450" y="2222569"/>
            <a:ext cx="8385600" cy="626700"/>
          </a:xfrm>
          <a:prstGeom prst="roundRect">
            <a:avLst>
              <a:gd fmla="val 10000" name="adj"/>
            </a:avLst>
          </a:prstGeom>
          <a:solidFill>
            <a:srgbClr val="F2F2F2"/>
          </a:solidFill>
          <a:ln cap="flat" cmpd="sng" w="1087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3"/>
              <a:buFont typeface="Arial"/>
              <a:buNone/>
            </a:pPr>
            <a:r>
              <a:t/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823206" y="2379273"/>
            <a:ext cx="281100" cy="313500"/>
          </a:xfrm>
          <a:prstGeom prst="ellipse">
            <a:avLst/>
          </a:prstGeom>
          <a:solidFill>
            <a:srgbClr val="36454F"/>
          </a:solidFill>
          <a:ln cap="flat" cmpd="sng" w="10875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3"/>
              <a:buFont typeface="Arial"/>
              <a:buNone/>
            </a:pPr>
            <a:r>
              <a:t/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823206" y="2379273"/>
            <a:ext cx="281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8"/>
              <a:buFont typeface="Calibri"/>
              <a:buNone/>
            </a:pPr>
            <a:r>
              <a:rPr b="1" i="0" lang="en" sz="9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244950" y="2222569"/>
            <a:ext cx="23193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28"/>
              <a:buFont typeface="Calibri"/>
              <a:buNone/>
            </a:pPr>
            <a:r>
              <a:rPr b="1" i="0" lang="en" sz="94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Making it predictable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3627806" y="2222569"/>
            <a:ext cx="42174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7"/>
              <a:buFont typeface="Calibri"/>
              <a:buNone/>
            </a:pPr>
            <a:r>
              <a:rPr b="0" i="0" lang="en" sz="94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Bounded variance, grounding, hallucination checks, evals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640450" y="2912066"/>
            <a:ext cx="8385600" cy="626700"/>
          </a:xfrm>
          <a:prstGeom prst="roundRect">
            <a:avLst>
              <a:gd fmla="val 10000" name="adj"/>
            </a:avLst>
          </a:prstGeom>
          <a:solidFill>
            <a:srgbClr val="F2F2F2"/>
          </a:solidFill>
          <a:ln cap="flat" cmpd="sng" w="1087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3"/>
              <a:buFont typeface="Arial"/>
              <a:buNone/>
            </a:pPr>
            <a:r>
              <a:t/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823206" y="3068770"/>
            <a:ext cx="281100" cy="313500"/>
          </a:xfrm>
          <a:prstGeom prst="ellipse">
            <a:avLst/>
          </a:prstGeom>
          <a:solidFill>
            <a:srgbClr val="36454F"/>
          </a:solidFill>
          <a:ln cap="flat" cmpd="sng" w="10875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3"/>
              <a:buFont typeface="Arial"/>
              <a:buNone/>
            </a:pPr>
            <a:r>
              <a:t/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823206" y="3068770"/>
            <a:ext cx="281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8"/>
              <a:buFont typeface="Calibri"/>
              <a:buNone/>
            </a:pPr>
            <a:r>
              <a:rPr b="1" i="0" lang="en" sz="9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1244950" y="2912066"/>
            <a:ext cx="23193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28"/>
              <a:buFont typeface="Calibri"/>
              <a:buNone/>
            </a:pPr>
            <a:r>
              <a:rPr b="1" i="0" lang="en" sz="94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Multi-agent and lifecycle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3627806" y="2912066"/>
            <a:ext cx="42174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7"/>
              <a:buFont typeface="Calibri"/>
              <a:buNone/>
            </a:pPr>
            <a:r>
              <a:rPr b="0" i="0" lang="en" sz="94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When to split, what changes in delivery, vibe coding oversight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640450" y="3601563"/>
            <a:ext cx="8385600" cy="626700"/>
          </a:xfrm>
          <a:prstGeom prst="roundRect">
            <a:avLst>
              <a:gd fmla="val 10000" name="adj"/>
            </a:avLst>
          </a:prstGeom>
          <a:solidFill>
            <a:srgbClr val="F2F2F2"/>
          </a:solidFill>
          <a:ln cap="flat" cmpd="sng" w="1087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3"/>
              <a:buFont typeface="Arial"/>
              <a:buNone/>
            </a:pPr>
            <a:r>
              <a:t/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823206" y="3758267"/>
            <a:ext cx="281100" cy="313500"/>
          </a:xfrm>
          <a:prstGeom prst="ellipse">
            <a:avLst/>
          </a:prstGeom>
          <a:solidFill>
            <a:srgbClr val="36454F"/>
          </a:solidFill>
          <a:ln cap="flat" cmpd="sng" w="10875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3"/>
              <a:buFont typeface="Arial"/>
              <a:buNone/>
            </a:pPr>
            <a:r>
              <a:t/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823206" y="3758267"/>
            <a:ext cx="281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8"/>
              <a:buFont typeface="Calibri"/>
              <a:buNone/>
            </a:pPr>
            <a:r>
              <a:rPr b="1" i="0" lang="en" sz="9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1244950" y="3601563"/>
            <a:ext cx="23193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28"/>
              <a:buFont typeface="Calibri"/>
              <a:buNone/>
            </a:pPr>
            <a:r>
              <a:rPr b="1" i="0" lang="en" sz="94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Observability and cost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3627806" y="3601563"/>
            <a:ext cx="42174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7"/>
              <a:buFont typeface="Calibri"/>
              <a:buNone/>
            </a:pPr>
            <a:r>
              <a:rPr b="0" i="0" lang="en" sz="94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What you should see on a dashboard, and what reliability costs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640450" y="4291060"/>
            <a:ext cx="8385600" cy="626700"/>
          </a:xfrm>
          <a:prstGeom prst="roundRect">
            <a:avLst>
              <a:gd fmla="val 10000" name="adj"/>
            </a:avLst>
          </a:prstGeom>
          <a:solidFill>
            <a:srgbClr val="F2F2F2"/>
          </a:solidFill>
          <a:ln cap="flat" cmpd="sng" w="1087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3"/>
              <a:buFont typeface="Arial"/>
              <a:buNone/>
            </a:pPr>
            <a:r>
              <a:t/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823206" y="4447764"/>
            <a:ext cx="281100" cy="313500"/>
          </a:xfrm>
          <a:prstGeom prst="ellipse">
            <a:avLst/>
          </a:prstGeom>
          <a:solidFill>
            <a:srgbClr val="36454F"/>
          </a:solidFill>
          <a:ln cap="flat" cmpd="sng" w="10875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3"/>
              <a:buFont typeface="Arial"/>
              <a:buNone/>
            </a:pPr>
            <a:r>
              <a:t/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823206" y="4447764"/>
            <a:ext cx="281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8"/>
              <a:buFont typeface="Calibri"/>
              <a:buNone/>
            </a:pPr>
            <a:r>
              <a:rPr b="1" i="0" lang="en" sz="9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244950" y="4291060"/>
            <a:ext cx="23193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28"/>
              <a:buFont typeface="Calibri"/>
              <a:buNone/>
            </a:pPr>
            <a:r>
              <a:t/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28"/>
              <a:buFont typeface="Calibri"/>
              <a:buNone/>
            </a:pPr>
            <a:r>
              <a:rPr b="1" i="0" lang="en" sz="94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What to ask your teams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3627806" y="4291060"/>
            <a:ext cx="42174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7"/>
              <a:buFont typeface="Calibri"/>
              <a:buNone/>
            </a:pPr>
            <a:r>
              <a:rPr b="0" i="0" lang="en" sz="943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Six questions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640450" y="5129578"/>
            <a:ext cx="98400" cy="109800"/>
          </a:xfrm>
          <a:prstGeom prst="ellipse">
            <a:avLst/>
          </a:prstGeom>
          <a:solidFill>
            <a:srgbClr val="B03A2E"/>
          </a:solidFill>
          <a:ln cap="flat" cmpd="sng" w="10875">
            <a:solidFill>
              <a:srgbClr val="B0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3"/>
              <a:buFont typeface="Arial"/>
              <a:buNone/>
            </a:pPr>
            <a:r>
              <a:t/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823206" y="4917876"/>
            <a:ext cx="81747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071"/>
              <a:buFont typeface="Calibri"/>
              <a:buNone/>
            </a:pPr>
            <a:r>
              <a:rPr b="0" i="1" lang="en" sz="943" u="none" cap="none" strike="noStrike">
                <a:solidFill>
                  <a:srgbClr val="6E7B85"/>
                </a:solidFill>
                <a:latin typeface="Arial"/>
                <a:ea typeface="Arial"/>
                <a:cs typeface="Arial"/>
                <a:sym typeface="Arial"/>
              </a:rPr>
              <a:t>includes a live demo   ·   questions at the end, or interrupt me — either is fine</a:t>
            </a:r>
            <a:endParaRPr b="0" i="0" sz="9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a86d56d66_0_1896"/>
          <p:cNvSpPr txBox="1"/>
          <p:nvPr/>
        </p:nvSpPr>
        <p:spPr>
          <a:xfrm>
            <a:off x="571500" y="1119377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200"/>
              <a:buFont typeface="Cambria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fa86d56d66_0_1896"/>
          <p:cNvSpPr txBox="1"/>
          <p:nvPr/>
        </p:nvSpPr>
        <p:spPr>
          <a:xfrm>
            <a:off x="571500" y="1239400"/>
            <a:ext cx="8572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Calibri"/>
              <a:buNone/>
            </a:pPr>
            <a:r>
              <a:rPr b="0" i="1" lang="en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https://fortune.com/2025/07/23/ai-coding-tool-replit-wiped-database-called-it-a-catastrophic-failure/</a:t>
            </a:r>
            <a:b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https://www.linkedin.com/pulse/ai-said-i-panicked-wiped-entire-production-database-gaurav-singh-17myc/</a:t>
            </a:r>
            <a:b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https://www.evidentlyai.com/blog/ai-hallucinations-examples</a:t>
            </a:r>
            <a:b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fa86d56d66_0_1896"/>
          <p:cNvSpPr txBox="1"/>
          <p:nvPr>
            <p:ph type="title"/>
          </p:nvPr>
        </p:nvSpPr>
        <p:spPr>
          <a:xfrm>
            <a:off x="640082" y="336100"/>
            <a:ext cx="790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Problem</a:t>
            </a:r>
            <a:endParaRPr/>
          </a:p>
        </p:txBody>
      </p:sp>
      <p:pic>
        <p:nvPicPr>
          <p:cNvPr id="145" name="Google Shape;145;g3fa86d56d66_0_18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730200"/>
            <a:ext cx="3371851" cy="23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fa86d56d66_0_189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53000" y="2082438"/>
            <a:ext cx="2800027" cy="1937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/>
          <p:nvPr/>
        </p:nvSpPr>
        <p:spPr>
          <a:xfrm>
            <a:off x="735325" y="871727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200"/>
              <a:buFont typeface="Cambria"/>
              <a:buNone/>
            </a:pPr>
            <a:r>
              <a:rPr b="0" i="0" lang="en" sz="2300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“Transfer 50,000 to Rajesh Kumar”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735330" y="1315593"/>
            <a:ext cx="10908900" cy="567000"/>
          </a:xfrm>
          <a:prstGeom prst="roundRect">
            <a:avLst>
              <a:gd fmla="val 12903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1009650" y="1315593"/>
            <a:ext cx="1036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Calibri"/>
              <a:buNone/>
            </a:pPr>
            <a:r>
              <a:rPr b="0" i="1" lang="en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Four payees match. The agent must pick one.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3"/>
          <p:cNvGraphicFramePr/>
          <p:nvPr/>
        </p:nvGraphicFramePr>
        <p:xfrm>
          <a:off x="735330" y="20745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{FA75D88B-E420-4B70-8462-ACC54954345F}</a:tableStyleId>
              </a:tblPr>
              <a:tblGrid>
                <a:gridCol w="1357750"/>
                <a:gridCol w="3122800"/>
                <a:gridCol w="2036600"/>
                <a:gridCol w="15817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Payee ID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 transfer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C-88214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Rajesh Kumar Sharma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...4471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Aug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C-90117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Rajesh Kumar Verma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...2093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never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C-88770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Rajesh K. Sharma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...4471 (joint)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Sep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C-91002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Rajesh Kumar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...8830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 Jul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3"/>
          <p:cNvSpPr/>
          <p:nvPr/>
        </p:nvSpPr>
        <p:spPr>
          <a:xfrm>
            <a:off x="649601" y="4046225"/>
            <a:ext cx="4217700" cy="658500"/>
          </a:xfrm>
          <a:prstGeom prst="roundRect">
            <a:avLst>
              <a:gd fmla="val 11111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923925" y="4065275"/>
            <a:ext cx="360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Run 1  </a:t>
            </a:r>
            <a:r>
              <a:rPr b="1" i="0" lang="en" sz="1600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→  C-88214  Rajesh Kumar Sharma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867275" y="4055750"/>
            <a:ext cx="3966900" cy="658500"/>
          </a:xfrm>
          <a:prstGeom prst="roundRect">
            <a:avLst>
              <a:gd fmla="val 11111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4919475" y="4065275"/>
            <a:ext cx="4024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Run 2  </a:t>
            </a:r>
            <a:r>
              <a:rPr b="1" i="0" lang="en" sz="1600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→  May pick C-88770  Rajesh K. Sharma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649605" y="4704725"/>
            <a:ext cx="109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Same instruction. Nothing broken. No code changed. No configuration differed.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 txBox="1"/>
          <p:nvPr>
            <p:ph type="title"/>
          </p:nvPr>
        </p:nvSpPr>
        <p:spPr>
          <a:xfrm>
            <a:off x="640082" y="336100"/>
            <a:ext cx="790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Bank Transfer Scenario</a:t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>
            <a:off x="7408545" y="396245"/>
            <a:ext cx="987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000" u="none" cap="none" strike="noStrike">
              <a:solidFill>
                <a:srgbClr val="B03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 txBox="1"/>
          <p:nvPr>
            <p:ph type="title"/>
          </p:nvPr>
        </p:nvSpPr>
        <p:spPr>
          <a:xfrm>
            <a:off x="549832" y="390175"/>
            <a:ext cx="790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mbria"/>
              <a:buNone/>
            </a:pPr>
            <a:r>
              <a:rPr lang="en" sz="2300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RECAP: What is actually inside an “agent”</a:t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903191" y="1040104"/>
            <a:ext cx="340500" cy="317700"/>
          </a:xfrm>
          <a:prstGeom prst="ellipse">
            <a:avLst/>
          </a:prstGeom>
          <a:solidFill>
            <a:srgbClr val="6E7B85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714375" y="2159400"/>
            <a:ext cx="8281500" cy="620700"/>
          </a:xfrm>
          <a:prstGeom prst="roundRect">
            <a:avLst>
              <a:gd fmla="val 9756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941291" y="2310804"/>
            <a:ext cx="340500" cy="317700"/>
          </a:xfrm>
          <a:prstGeom prst="ellipse">
            <a:avLst/>
          </a:prstGeom>
          <a:solidFill>
            <a:srgbClr val="6E7B85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941291" y="2310804"/>
            <a:ext cx="3405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1459949" y="2159400"/>
            <a:ext cx="1377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2902460" y="2159397"/>
            <a:ext cx="5196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50"/>
              <a:buFont typeface="Calibri"/>
              <a:buNone/>
            </a:pPr>
            <a:r>
              <a:rPr b="0" i="0" lang="en" sz="14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That this customer paid C-88214 last month. Short-term vs persisted.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714375" y="2871000"/>
            <a:ext cx="8281500" cy="620700"/>
          </a:xfrm>
          <a:prstGeom prst="roundRect">
            <a:avLst>
              <a:gd fmla="val 9756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941291" y="3022404"/>
            <a:ext cx="340500" cy="317700"/>
          </a:xfrm>
          <a:prstGeom prst="ellipse">
            <a:avLst/>
          </a:prstGeom>
          <a:solidFill>
            <a:srgbClr val="6E7B85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941291" y="3022404"/>
            <a:ext cx="3405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1459949" y="2871000"/>
            <a:ext cx="1377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2902460" y="2871008"/>
            <a:ext cx="5196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50"/>
              <a:buFont typeface="Calibri"/>
              <a:buNone/>
            </a:pPr>
            <a:r>
              <a:rPr b="0" i="0" lang="en" sz="14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Payee lookup, balance check, the transfer API. Where it stops being a chatbot.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714375" y="3582600"/>
            <a:ext cx="8281500" cy="620700"/>
          </a:xfrm>
          <a:prstGeom prst="roundRect">
            <a:avLst>
              <a:gd fmla="val 9756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941291" y="3734004"/>
            <a:ext cx="340500" cy="317700"/>
          </a:xfrm>
          <a:prstGeom prst="ellipse">
            <a:avLst/>
          </a:prstGeom>
          <a:solidFill>
            <a:srgbClr val="6E7B85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941291" y="3734004"/>
            <a:ext cx="3405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1459949" y="3582600"/>
            <a:ext cx="1377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Skills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2902460" y="3582599"/>
            <a:ext cx="50616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50"/>
              <a:buFont typeface="Calibri"/>
              <a:buNone/>
            </a:pPr>
            <a:r>
              <a:rPr b="0" i="0" lang="en" sz="14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The packaged disambiguation procedure. Versioned like code.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714375" y="4294200"/>
            <a:ext cx="8372100" cy="620700"/>
          </a:xfrm>
          <a:prstGeom prst="roundRect">
            <a:avLst>
              <a:gd fmla="val 9756" name="adj"/>
            </a:avLst>
          </a:prstGeom>
          <a:solidFill>
            <a:srgbClr val="E8EAEC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941291" y="4445604"/>
            <a:ext cx="340500" cy="317700"/>
          </a:xfrm>
          <a:prstGeom prst="ellipse">
            <a:avLst/>
          </a:prstGeom>
          <a:solidFill>
            <a:srgbClr val="36454F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941291" y="4445604"/>
            <a:ext cx="3405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1459949" y="4294200"/>
            <a:ext cx="1377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2902460" y="4294190"/>
            <a:ext cx="50616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50"/>
              <a:buFont typeface="Calibri"/>
              <a:buNone/>
            </a:pPr>
            <a:r>
              <a:rPr b="0" i="0" lang="en" sz="14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Authentication and Authorisation 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44700" y="1566700"/>
            <a:ext cx="8613000" cy="620700"/>
          </a:xfrm>
          <a:prstGeom prst="roundRect">
            <a:avLst>
              <a:gd fmla="val 9756" name="adj"/>
            </a:avLst>
          </a:prstGeom>
          <a:solidFill>
            <a:srgbClr val="E8EAEC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1997925" y="1566675"/>
            <a:ext cx="5966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50"/>
              <a:buFont typeface="Calibri"/>
              <a:buNone/>
            </a:pPr>
            <a:r>
              <a:rPr b="0" i="0" lang="en" sz="14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Also stops when confidence is low.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549822" y="1566712"/>
            <a:ext cx="1448100" cy="6207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Harness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369150" y="888600"/>
            <a:ext cx="8588400" cy="620700"/>
          </a:xfrm>
          <a:prstGeom prst="roundRect">
            <a:avLst>
              <a:gd fmla="val 9756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643691" y="1039204"/>
            <a:ext cx="340500" cy="31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1114724" y="888600"/>
            <a:ext cx="1377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Brain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1743075" y="888600"/>
            <a:ext cx="6581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50"/>
              <a:buFont typeface="Calibri"/>
              <a:buNone/>
            </a:pPr>
            <a:r>
              <a:rPr b="0" i="0" lang="en" sz="14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The model. Decides which Rajesh the instruction meant.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7408545" y="396245"/>
            <a:ext cx="987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1" i="0" sz="1000" u="none" cap="none" strike="noStrike">
              <a:solidFill>
                <a:srgbClr val="B03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"/>
          <p:cNvSpPr txBox="1"/>
          <p:nvPr>
            <p:ph type="title"/>
          </p:nvPr>
        </p:nvSpPr>
        <p:spPr>
          <a:xfrm>
            <a:off x="645800" y="390175"/>
            <a:ext cx="706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WHY THIS IS FOR PROJECT MANAGERS</a:t>
            </a:r>
            <a:endParaRPr sz="2600"/>
          </a:p>
        </p:txBody>
      </p:sp>
      <p:sp>
        <p:nvSpPr>
          <p:cNvPr id="201" name="Google Shape;201;p4"/>
          <p:cNvSpPr txBox="1"/>
          <p:nvPr/>
        </p:nvSpPr>
        <p:spPr>
          <a:xfrm>
            <a:off x="601980" y="1205103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200"/>
              <a:buFont typeface="Cambria"/>
              <a:buNone/>
            </a:pPr>
            <a:r>
              <a:rPr b="1" i="0" lang="en" sz="2100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Where your existing process stops working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4"/>
          <p:cNvGraphicFramePr/>
          <p:nvPr/>
        </p:nvGraphicFramePr>
        <p:xfrm>
          <a:off x="645792" y="17011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{FA75D88B-E420-4B70-8462-ACC54954345F}</a:tableStyleId>
              </a:tblPr>
              <a:tblGrid>
                <a:gridCol w="1996650"/>
                <a:gridCol w="2968200"/>
                <a:gridCol w="3172750"/>
              </a:tblGrid>
              <a:tr h="33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b="1" sz="1700" u="none" cap="none" strike="noStrike">
                        <a:solidFill>
                          <a:srgbClr val="21212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7B85"/>
                        </a:buClr>
                        <a:buSzPts val="1700"/>
                        <a:buFont typeface="Calibri"/>
                        <a:buNone/>
                      </a:pPr>
                      <a:r>
                        <a:rPr b="1"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Traditional delivery</a:t>
                      </a:r>
                      <a:endParaRPr b="1"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700"/>
                        <a:buFont typeface="Calibri"/>
                        <a:buNone/>
                      </a:pPr>
                      <a:r>
                        <a:rPr b="1"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AI-enabled delivery</a:t>
                      </a:r>
                      <a:endParaRPr b="1"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Definition of Done:</a:t>
                      </a:r>
                      <a:endParaRPr sz="1700" u="none" cap="none" strike="noStrike">
                        <a:solidFill>
                          <a:srgbClr val="21212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700"/>
                        <a:buFont typeface="Calibri"/>
                        <a:buNone/>
                      </a:pPr>
                      <a:r>
                        <a:rPr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Done is binary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700"/>
                        <a:buFont typeface="Calibri"/>
                        <a:buNone/>
                      </a:pPr>
                      <a:r>
                        <a:rPr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Done is a measured range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Testing:</a:t>
                      </a:r>
                      <a:endParaRPr sz="1700" u="none" cap="none" strike="noStrike">
                        <a:solidFill>
                          <a:srgbClr val="21212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700"/>
                        <a:buFont typeface="Calibri"/>
                        <a:buNone/>
                      </a:pPr>
                      <a:r>
                        <a:rPr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Assertions pass or fail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700"/>
                        <a:buFont typeface="Calibri"/>
                        <a:buNone/>
                      </a:pPr>
                      <a:r>
                        <a:rPr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Sampling against a threshold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UAT Sign-off:</a:t>
                      </a:r>
                      <a:endParaRPr sz="1700" u="none" cap="none" strike="noStrike">
                        <a:solidFill>
                          <a:srgbClr val="21212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700"/>
                        <a:buFont typeface="Calibri"/>
                        <a:buNone/>
                      </a:pPr>
                      <a:r>
                        <a:rPr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UAT proves it works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700"/>
                        <a:buFont typeface="Calibri"/>
                        <a:buNone/>
                      </a:pPr>
                      <a:r>
                        <a:rPr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UAT proves it usually works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Bugs Support:</a:t>
                      </a:r>
                      <a:endParaRPr sz="1700" u="none" cap="none" strike="noStrike">
                        <a:solidFill>
                          <a:srgbClr val="21212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700"/>
                        <a:buFont typeface="Calibri"/>
                        <a:buNone/>
                      </a:pPr>
                      <a:r>
                        <a:rPr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Reproduce, then fix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700"/>
                        <a:buFont typeface="Calibri"/>
                        <a:buNone/>
                      </a:pPr>
                      <a:r>
                        <a:rPr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May not reproduce at all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2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 Cost:</a:t>
                      </a:r>
                      <a:endParaRPr sz="1700" u="none" cap="none" strike="noStrike">
                        <a:solidFill>
                          <a:srgbClr val="21212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700"/>
                        <a:buFont typeface="Calibri"/>
                        <a:buNone/>
                      </a:pPr>
                      <a:r>
                        <a:rPr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is fixed per release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700"/>
                        <a:buFont typeface="Calibri"/>
                        <a:buNone/>
                      </a:pPr>
                      <a:r>
                        <a:rPr lang="en" sz="17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is variable per transaction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4"/>
          <p:cNvSpPr txBox="1"/>
          <p:nvPr/>
        </p:nvSpPr>
        <p:spPr>
          <a:xfrm>
            <a:off x="1518400" y="4486275"/>
            <a:ext cx="639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Nothing today is about the model. It is about the five rows on the right.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/>
          <p:nvPr>
            <p:ph type="title"/>
          </p:nvPr>
        </p:nvSpPr>
        <p:spPr>
          <a:xfrm>
            <a:off x="640075" y="360275"/>
            <a:ext cx="57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Harness</a:t>
            </a:r>
            <a:endParaRPr sz="2600"/>
          </a:p>
        </p:txBody>
      </p:sp>
      <p:sp>
        <p:nvSpPr>
          <p:cNvPr id="209" name="Google Shape;209;p6"/>
          <p:cNvSpPr txBox="1"/>
          <p:nvPr/>
        </p:nvSpPr>
        <p:spPr>
          <a:xfrm>
            <a:off x="863075" y="980950"/>
            <a:ext cx="7665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141"/>
              <a:buFont typeface="Cambria"/>
              <a:buNone/>
            </a:pPr>
            <a:r>
              <a:rPr b="1" i="0" lang="en" sz="2300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The harness is the product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640075" y="1357649"/>
            <a:ext cx="4111500" cy="1570800"/>
          </a:xfrm>
          <a:prstGeom prst="roundRect">
            <a:avLst>
              <a:gd fmla="val 4000" name="adj"/>
            </a:avLst>
          </a:prstGeom>
          <a:solidFill>
            <a:srgbClr val="F2F2F2"/>
          </a:solidFill>
          <a:ln cap="flat" cmpd="sng" w="1247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25" lIns="89725" spcFirstLastPara="1" rIns="89725" wrap="square" tIns="8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863064" y="1499042"/>
            <a:ext cx="36930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472"/>
              <a:buFont typeface="Calibri"/>
              <a:buNone/>
            </a:pPr>
            <a:r>
              <a:rPr b="1" i="0" lang="en" sz="1472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Weak harness</a:t>
            </a:r>
            <a:endParaRPr b="0" i="0" sz="14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863064" y="1844670"/>
            <a:ext cx="36930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865"/>
              <a:buFont typeface="Calibri"/>
              <a:buNone/>
            </a:pPr>
            <a:r>
              <a:rPr b="1" i="0" lang="en" sz="1865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“I’ve transferred 50,000 to</a:t>
            </a:r>
            <a:endParaRPr b="0" i="0" sz="18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865"/>
              <a:buFont typeface="Calibri"/>
              <a:buNone/>
            </a:pPr>
            <a:r>
              <a:rPr b="1" i="0" lang="en" sz="1865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Rajesh Kumar Sharma.”</a:t>
            </a:r>
            <a:endParaRPr b="0" i="0" sz="18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855958" y="1357649"/>
            <a:ext cx="4097400" cy="1570800"/>
          </a:xfrm>
          <a:prstGeom prst="roundRect">
            <a:avLst>
              <a:gd fmla="val 4000" name="adj"/>
            </a:avLst>
          </a:prstGeom>
          <a:solidFill>
            <a:srgbClr val="F2F2F2"/>
          </a:solidFill>
          <a:ln cap="flat" cmpd="sng" w="1247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25" lIns="89725" spcFirstLastPara="1" rIns="89725" wrap="square" tIns="8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5078947" y="1499042"/>
            <a:ext cx="36930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472"/>
              <a:buFont typeface="Calibri"/>
              <a:buNone/>
            </a:pPr>
            <a:r>
              <a:rPr b="1" i="0" lang="en" sz="1472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Strong harness</a:t>
            </a:r>
            <a:endParaRPr b="0" i="0" sz="14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5078947" y="1844670"/>
            <a:ext cx="36930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3D6B4A"/>
              </a:buClr>
              <a:buSzPts val="1865"/>
              <a:buFont typeface="Calibri"/>
              <a:buNone/>
            </a:pPr>
            <a:r>
              <a:rPr b="1" i="0" lang="en" sz="1865" u="none" cap="none" strike="noStrike">
                <a:solidFill>
                  <a:srgbClr val="3D6B4A"/>
                </a:solidFill>
                <a:latin typeface="Calibri"/>
                <a:ea typeface="Calibri"/>
                <a:cs typeface="Calibri"/>
                <a:sym typeface="Calibri"/>
              </a:rPr>
              <a:t>“I found four matching payees.</a:t>
            </a:r>
            <a:endParaRPr b="0" i="0" sz="18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3D6B4A"/>
              </a:buClr>
              <a:buSzPts val="1865"/>
              <a:buFont typeface="Calibri"/>
              <a:buNone/>
            </a:pPr>
            <a:r>
              <a:rPr b="1" i="0" lang="en" sz="1865" u="none" cap="none" strike="noStrike">
                <a:solidFill>
                  <a:srgbClr val="3D6B4A"/>
                </a:solidFill>
                <a:latin typeface="Calibri"/>
                <a:ea typeface="Calibri"/>
                <a:cs typeface="Calibri"/>
                <a:sym typeface="Calibri"/>
              </a:rPr>
              <a:t>Which one did you mean?”</a:t>
            </a:r>
            <a:endParaRPr b="0" i="0" sz="18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640075" y="3046513"/>
            <a:ext cx="8313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69"/>
              <a:buFont typeface="Calibri"/>
              <a:buNone/>
            </a:pPr>
            <a:r>
              <a:rPr b="1" i="0" lang="en" sz="166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Same model. Same data. Entirely different product.</a:t>
            </a:r>
            <a:endParaRPr b="0" i="0" sz="16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582925" y="3478699"/>
            <a:ext cx="8313300" cy="1379100"/>
          </a:xfrm>
          <a:prstGeom prst="roundRect">
            <a:avLst>
              <a:gd fmla="val 10000" name="adj"/>
            </a:avLst>
          </a:prstGeom>
          <a:solidFill>
            <a:srgbClr val="E8EAEC"/>
          </a:solidFill>
          <a:ln cap="flat" cmpd="sng" w="1247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25" lIns="89725" spcFirstLastPara="1" rIns="89725" wrap="square" tIns="8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640075" y="3557100"/>
            <a:ext cx="83133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61" lvl="0" marL="33656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21"/>
              <a:buFont typeface="Calibri"/>
              <a:buChar char="•"/>
            </a:pPr>
            <a:r>
              <a:rPr b="0" i="0" lang="en" sz="1521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Routes steps, enforces output structure, retries, validates before acting, stops runaway loops</a:t>
            </a:r>
            <a:endParaRPr b="0" i="0" sz="152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61" lvl="0" marL="336561" marR="0" rtl="0" algn="l">
              <a:lnSpc>
                <a:spcPct val="100000"/>
              </a:lnSpc>
              <a:spcBef>
                <a:spcPts val="883"/>
              </a:spcBef>
              <a:spcAft>
                <a:spcPts val="0"/>
              </a:spcAft>
              <a:buClr>
                <a:srgbClr val="212121"/>
              </a:buClr>
              <a:buSzPts val="1521"/>
              <a:buFont typeface="Calibri"/>
              <a:buChar char="•"/>
            </a:pPr>
            <a:r>
              <a:rPr b="0" i="0" lang="en" sz="1521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Two teams on the identical model ship products of wildly different reliability — the harness is the difference</a:t>
            </a:r>
            <a:endParaRPr b="0" i="0" sz="152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61" lvl="0" marL="336561" marR="0" rtl="0" algn="l">
              <a:lnSpc>
                <a:spcPct val="100000"/>
              </a:lnSpc>
              <a:spcBef>
                <a:spcPts val="883"/>
              </a:spcBef>
              <a:spcAft>
                <a:spcPts val="0"/>
              </a:spcAft>
              <a:buClr>
                <a:srgbClr val="212121"/>
              </a:buClr>
              <a:buSzPts val="1521"/>
              <a:buFont typeface="Calibri"/>
              <a:buChar char="•"/>
            </a:pPr>
            <a:r>
              <a:rPr b="1" i="0" lang="en" sz="1521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For planning: </a:t>
            </a:r>
            <a:r>
              <a:rPr b="0" i="0" lang="en" sz="1521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budget engineering effort for the harness, not for “integrating the AI”</a:t>
            </a:r>
            <a:endParaRPr b="0" i="0" sz="152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 txBox="1"/>
          <p:nvPr>
            <p:ph type="title"/>
          </p:nvPr>
        </p:nvSpPr>
        <p:spPr>
          <a:xfrm>
            <a:off x="587250" y="390175"/>
            <a:ext cx="796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8"/>
              <a:buFont typeface="Cambria"/>
              <a:buNone/>
            </a:pPr>
            <a:r>
              <a:rPr lang="en" sz="2300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Non-determinism</a:t>
            </a:r>
            <a:endParaRPr sz="2600"/>
          </a:p>
        </p:txBody>
      </p:sp>
      <p:sp>
        <p:nvSpPr>
          <p:cNvPr id="224" name="Google Shape;224;p7"/>
          <p:cNvSpPr/>
          <p:nvPr/>
        </p:nvSpPr>
        <p:spPr>
          <a:xfrm>
            <a:off x="409575" y="1336067"/>
            <a:ext cx="4253400" cy="1611000"/>
          </a:xfrm>
          <a:prstGeom prst="roundRect">
            <a:avLst>
              <a:gd fmla="val 3077" name="adj"/>
            </a:avLst>
          </a:prstGeom>
          <a:solidFill>
            <a:srgbClr val="F2F2F2"/>
          </a:solidFill>
          <a:ln cap="flat" cmpd="sng" w="995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650" lIns="71650" spcFirstLastPara="1" rIns="71650" wrap="square" tIns="71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640278" y="1459982"/>
            <a:ext cx="3820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097"/>
              <a:buFont typeface="Calibri"/>
              <a:buNone/>
            </a:pPr>
            <a:r>
              <a:rPr b="1" i="0" lang="en" sz="1500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Run 1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640278" y="1695419"/>
            <a:ext cx="38208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332"/>
              <a:buFont typeface="Calibri"/>
              <a:buNone/>
            </a:pPr>
            <a:r>
              <a:rPr b="1" i="0" lang="en" sz="1500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C-88214  —  Rajesh Kumar Sharma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640278" y="2079554"/>
            <a:ext cx="38208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76"/>
              <a:buFont typeface="Calibri"/>
              <a:buNone/>
            </a:pPr>
            <a:r>
              <a:rPr b="0" i="1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“Transfer complete. 50,000 sent.”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771300" y="1336067"/>
            <a:ext cx="4239000" cy="1611000"/>
          </a:xfrm>
          <a:prstGeom prst="roundRect">
            <a:avLst>
              <a:gd fmla="val 3077" name="adj"/>
            </a:avLst>
          </a:prstGeom>
          <a:solidFill>
            <a:srgbClr val="F2F2F2"/>
          </a:solidFill>
          <a:ln cap="flat" cmpd="sng" w="995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650" lIns="71650" spcFirstLastPara="1" rIns="71650" wrap="square" tIns="71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5002003" y="1459982"/>
            <a:ext cx="3820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097"/>
              <a:buFont typeface="Calibri"/>
              <a:buNone/>
            </a:pPr>
            <a:r>
              <a:rPr b="1" i="0" lang="en" sz="1500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Run 2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 txBox="1"/>
          <p:nvPr/>
        </p:nvSpPr>
        <p:spPr>
          <a:xfrm>
            <a:off x="5002003" y="1695419"/>
            <a:ext cx="38208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332"/>
              <a:buFont typeface="Calibri"/>
              <a:buNone/>
            </a:pPr>
            <a:r>
              <a:rPr b="1" i="0" lang="en" sz="1500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C-88770  —  Rajesh K. Sharma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5002003" y="2079554"/>
            <a:ext cx="38208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76"/>
              <a:buFont typeface="Calibri"/>
              <a:buNone/>
            </a:pPr>
            <a:r>
              <a:rPr b="0" i="1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“Transfer complete. 50,000 sent.”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09575" y="3070870"/>
            <a:ext cx="8601000" cy="557400"/>
          </a:xfrm>
          <a:prstGeom prst="roundRect">
            <a:avLst>
              <a:gd fmla="val 8889" name="adj"/>
            </a:avLst>
          </a:prstGeom>
          <a:solidFill>
            <a:srgbClr val="E8EAEC"/>
          </a:solidFill>
          <a:ln cap="flat" cmpd="sng" w="995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650" lIns="71650" spcFirstLastPara="1" rIns="71650" wrap="square" tIns="71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661906" y="3070870"/>
            <a:ext cx="80961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11"/>
              <a:buFont typeface="Calibri"/>
              <a:buNone/>
            </a:pPr>
            <a:r>
              <a:rPr b="1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The confidence is identical in both runs. That is the dangerous part.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409575" y="3752400"/>
            <a:ext cx="86010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8731" lvl="0" marL="26873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Temperature is only part of it — retrieval order, tool timing and context assembly all contribute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8731" lvl="0" marL="268731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Even at temperature zero you do not get a guarantee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7408545" y="396245"/>
            <a:ext cx="987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1" i="0" sz="1000" u="none" cap="none" strike="noStrike">
              <a:solidFill>
                <a:srgbClr val="B03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"/>
          <p:cNvSpPr txBox="1"/>
          <p:nvPr>
            <p:ph type="title"/>
          </p:nvPr>
        </p:nvSpPr>
        <p:spPr>
          <a:xfrm>
            <a:off x="597450" y="342550"/>
            <a:ext cx="723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Bounded Variance</a:t>
            </a:r>
            <a:endParaRPr sz="2600"/>
          </a:p>
        </p:txBody>
      </p:sp>
      <p:sp>
        <p:nvSpPr>
          <p:cNvPr id="241" name="Google Shape;241;p8"/>
          <p:cNvSpPr txBox="1"/>
          <p:nvPr/>
        </p:nvSpPr>
        <p:spPr>
          <a:xfrm>
            <a:off x="792350" y="904663"/>
            <a:ext cx="77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200"/>
              <a:buFont typeface="Cambria"/>
              <a:buNone/>
            </a:pPr>
            <a:r>
              <a:rPr b="1" i="0" lang="en" sz="2000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You don’t get determinism. You get bounded variance.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533400" y="1417300"/>
            <a:ext cx="4191000" cy="1965900"/>
          </a:xfrm>
          <a:prstGeom prst="roundRect">
            <a:avLst>
              <a:gd fmla="val 3721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597450" y="1600175"/>
            <a:ext cx="107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Unconstrained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1680502" y="1600175"/>
            <a:ext cx="2491500" cy="310800"/>
          </a:xfrm>
          <a:prstGeom prst="roundRect">
            <a:avLst>
              <a:gd fmla="val 29412" name="adj"/>
            </a:avLst>
          </a:prstGeom>
          <a:solidFill>
            <a:srgbClr val="B03A2E"/>
          </a:solidFill>
          <a:ln cap="flat" cmpd="sng" w="12700">
            <a:solidFill>
              <a:srgbClr val="B0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533400" y="2179338"/>
            <a:ext cx="145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Within tolerance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2412795" y="2042078"/>
            <a:ext cx="1026900" cy="548700"/>
          </a:xfrm>
          <a:prstGeom prst="roundRect">
            <a:avLst>
              <a:gd fmla="val 16667" name="adj"/>
            </a:avLst>
          </a:prstGeom>
          <a:solidFill>
            <a:srgbClr val="E8EAEC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2583970" y="2179238"/>
            <a:ext cx="684900" cy="310800"/>
          </a:xfrm>
          <a:prstGeom prst="roundRect">
            <a:avLst>
              <a:gd fmla="val 29412" name="adj"/>
            </a:avLst>
          </a:prstGeom>
          <a:solidFill>
            <a:srgbClr val="3D6B4A"/>
          </a:solidFill>
          <a:ln cap="flat" cmpd="sng" w="12700">
            <a:solidFill>
              <a:srgbClr val="3D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2454520" y="2971781"/>
            <a:ext cx="1026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acceptable band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640101" y="3406211"/>
            <a:ext cx="84372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Acceptance criteria become statistical. Testing becomes sampling. Sign-off becomes a threshold.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Example: “correct payee on 95% of the 200-case eval set, and zero wrong-payee executions without confirmation”  [illustrative]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Note the asymmetry — the second half is absolute. Some failure categories don’t get a tolerance band, and deciding which is a business decision, not a technical one.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600900" y="4788825"/>
            <a:ext cx="7942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Calibri"/>
              <a:buNone/>
            </a:pPr>
            <a:r>
              <a:rPr b="1" i="0" lang="en" sz="12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We never demanded two machined parts be atomically identical. We specified a tolerance and measured against it.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7408545" y="396245"/>
            <a:ext cx="987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1" i="0" sz="1000" u="none" cap="none" strike="noStrike">
              <a:solidFill>
                <a:srgbClr val="B03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8750" y="1372575"/>
            <a:ext cx="3674351" cy="196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 txBox="1"/>
          <p:nvPr>
            <p:ph type="title"/>
          </p:nvPr>
        </p:nvSpPr>
        <p:spPr>
          <a:xfrm>
            <a:off x="549825" y="323675"/>
            <a:ext cx="825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The Toolkit</a:t>
            </a:r>
            <a:endParaRPr sz="2600"/>
          </a:p>
        </p:txBody>
      </p:sp>
      <p:sp>
        <p:nvSpPr>
          <p:cNvPr id="258" name="Google Shape;258;p9"/>
          <p:cNvSpPr txBox="1"/>
          <p:nvPr/>
        </p:nvSpPr>
        <p:spPr>
          <a:xfrm>
            <a:off x="782950" y="1205100"/>
            <a:ext cx="880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200"/>
              <a:buFont typeface="Cambria"/>
              <a:buNone/>
            </a:pPr>
            <a:r>
              <a:rPr b="1" i="0" lang="en" sz="2300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Five levers — and what each does not fix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9" name="Google Shape;259;p9"/>
          <p:cNvGraphicFramePr/>
          <p:nvPr/>
        </p:nvGraphicFramePr>
        <p:xfrm>
          <a:off x="782955" y="17487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{FA75D88B-E420-4B70-8462-ACC54954345F}</a:tableStyleId>
              </a:tblPr>
              <a:tblGrid>
                <a:gridCol w="2105950"/>
                <a:gridCol w="3027325"/>
                <a:gridCol w="2718000"/>
              </a:tblGrid>
              <a:tr h="55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Lever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3A2E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" sz="1500" u="none" cap="none" strike="noStrike">
                          <a:solidFill>
                            <a:srgbClr val="B03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not fix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Structured outputs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 drift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Wrong content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 / grounding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Invented facts about our domain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Bad reasoning over good facts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Guardrails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Unsafe actions reaching production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Adds latency and cost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Silent regressions after a change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Requires ongoing maintenance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Human-in-the-loop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high-consequence tail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Caps your throughput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0" name="Google Shape;260;p9"/>
          <p:cNvSpPr/>
          <p:nvPr/>
        </p:nvSpPr>
        <p:spPr>
          <a:xfrm>
            <a:off x="-331470" y="5339715"/>
            <a:ext cx="10908900" cy="731400"/>
          </a:xfrm>
          <a:prstGeom prst="roundRect">
            <a:avLst>
              <a:gd fmla="val 10000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 txBox="1"/>
          <p:nvPr>
            <p:ph type="title"/>
          </p:nvPr>
        </p:nvSpPr>
        <p:spPr>
          <a:xfrm>
            <a:off x="549825" y="323675"/>
            <a:ext cx="82530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73"/>
              <a:buFont typeface="Cambria"/>
              <a:buNone/>
            </a:pPr>
            <a:r>
              <a:rPr lang="en" sz="2473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Grounding, and catching a hallucination</a:t>
            </a:r>
            <a:endParaRPr sz="2500"/>
          </a:p>
        </p:txBody>
      </p:sp>
      <p:sp>
        <p:nvSpPr>
          <p:cNvPr id="266" name="Google Shape;266;p10"/>
          <p:cNvSpPr/>
          <p:nvPr/>
        </p:nvSpPr>
        <p:spPr>
          <a:xfrm>
            <a:off x="8307146" y="377450"/>
            <a:ext cx="763200" cy="240000"/>
          </a:xfrm>
          <a:prstGeom prst="roundRect">
            <a:avLst>
              <a:gd fmla="val 47059" name="adj"/>
            </a:avLst>
          </a:prstGeom>
          <a:solidFill>
            <a:srgbClr val="B03A2E"/>
          </a:solidFill>
          <a:ln cap="flat" cmpd="sng" w="9800">
            <a:solidFill>
              <a:srgbClr val="B0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650" lIns="70650" spcFirstLastPara="1" rIns="70650" wrap="square" tIns="70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0"/>
          <p:cNvSpPr txBox="1"/>
          <p:nvPr/>
        </p:nvSpPr>
        <p:spPr>
          <a:xfrm>
            <a:off x="8307146" y="377450"/>
            <a:ext cx="763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73"/>
              <a:buFont typeface="Calibri"/>
              <a:buNone/>
            </a:pPr>
            <a:r>
              <a:rPr b="1" i="0" lang="en" sz="77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77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640075" y="1472741"/>
            <a:ext cx="2670900" cy="2049300"/>
          </a:xfrm>
          <a:prstGeom prst="roundRect">
            <a:avLst>
              <a:gd fmla="val 2759" name="adj"/>
            </a:avLst>
          </a:prstGeom>
          <a:solidFill>
            <a:srgbClr val="F2F2F2"/>
          </a:solidFill>
          <a:ln cap="flat" cmpd="sng" w="98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650" lIns="70650" spcFirstLastPara="1" rIns="70650" wrap="square" tIns="70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837935" y="1649401"/>
            <a:ext cx="325200" cy="325200"/>
          </a:xfrm>
          <a:prstGeom prst="ellipse">
            <a:avLst/>
          </a:prstGeom>
          <a:solidFill>
            <a:srgbClr val="B03A2E"/>
          </a:solidFill>
          <a:ln cap="flat" cmpd="sng" w="9800">
            <a:solidFill>
              <a:srgbClr val="B0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650" lIns="70650" spcFirstLastPara="1" rIns="70650" wrap="square" tIns="70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 txBox="1"/>
          <p:nvPr/>
        </p:nvSpPr>
        <p:spPr>
          <a:xfrm>
            <a:off x="837935" y="1649401"/>
            <a:ext cx="325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2"/>
              <a:buFont typeface="Calibri"/>
              <a:buNone/>
            </a:pPr>
            <a:r>
              <a:rPr b="1" i="0" lang="en" sz="108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8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 txBox="1"/>
          <p:nvPr/>
        </p:nvSpPr>
        <p:spPr>
          <a:xfrm>
            <a:off x="837935" y="2073384"/>
            <a:ext cx="2261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68"/>
              <a:buFont typeface="Cambria"/>
              <a:buNone/>
            </a:pPr>
            <a:r>
              <a:rPr b="1" i="0" lang="en" sz="1468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Hallucinate</a:t>
            </a:r>
            <a:endParaRPr b="0" i="0" sz="146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 txBox="1"/>
          <p:nvPr/>
        </p:nvSpPr>
        <p:spPr>
          <a:xfrm>
            <a:off x="837935" y="2412571"/>
            <a:ext cx="22896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43"/>
              <a:buFont typeface="Calibri"/>
              <a:buNone/>
            </a:pPr>
            <a:r>
              <a:rPr b="0" i="0" lang="en" sz="104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Asked about a payee that does not exist, it invents a plausible account number rather than saying it cannot find one.</a:t>
            </a:r>
            <a:endParaRPr b="0" i="0" sz="104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3523177" y="1472741"/>
            <a:ext cx="2670900" cy="2049300"/>
          </a:xfrm>
          <a:prstGeom prst="roundRect">
            <a:avLst>
              <a:gd fmla="val 2759" name="adj"/>
            </a:avLst>
          </a:prstGeom>
          <a:solidFill>
            <a:srgbClr val="F2F2F2"/>
          </a:solidFill>
          <a:ln cap="flat" cmpd="sng" w="98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650" lIns="70650" spcFirstLastPara="1" rIns="70650" wrap="square" tIns="70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3721036" y="1649401"/>
            <a:ext cx="325200" cy="325200"/>
          </a:xfrm>
          <a:prstGeom prst="ellipse">
            <a:avLst/>
          </a:prstGeom>
          <a:solidFill>
            <a:srgbClr val="36454F"/>
          </a:solidFill>
          <a:ln cap="flat" cmpd="sng" w="9800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650" lIns="70650" spcFirstLastPara="1" rIns="70650" wrap="square" tIns="70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3721036" y="1649401"/>
            <a:ext cx="325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2"/>
              <a:buFont typeface="Calibri"/>
              <a:buNone/>
            </a:pPr>
            <a:r>
              <a:rPr b="1" i="0" lang="en" sz="108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8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3721036" y="2073384"/>
            <a:ext cx="2261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68"/>
              <a:buFont typeface="Cambria"/>
              <a:buNone/>
            </a:pPr>
            <a:r>
              <a:rPr b="1" i="0" lang="en" sz="1468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Ground</a:t>
            </a:r>
            <a:endParaRPr b="0" i="0" sz="146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3721036" y="2412571"/>
            <a:ext cx="22896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43"/>
              <a:buFont typeface="Calibri"/>
              <a:buNone/>
            </a:pPr>
            <a:r>
              <a:rPr b="0" i="0" lang="en" sz="104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Same question, grounded against the customer master. Correct — and the trace shows which record it retrieved.</a:t>
            </a:r>
            <a:endParaRPr b="0" i="0" sz="104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406278" y="1472741"/>
            <a:ext cx="2670900" cy="2049300"/>
          </a:xfrm>
          <a:prstGeom prst="roundRect">
            <a:avLst>
              <a:gd fmla="val 2759" name="adj"/>
            </a:avLst>
          </a:prstGeom>
          <a:solidFill>
            <a:srgbClr val="F2F2F2"/>
          </a:solidFill>
          <a:ln cap="flat" cmpd="sng" w="98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650" lIns="70650" spcFirstLastPara="1" rIns="70650" wrap="square" tIns="70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6604138" y="1649401"/>
            <a:ext cx="325200" cy="325200"/>
          </a:xfrm>
          <a:prstGeom prst="ellipse">
            <a:avLst/>
          </a:prstGeom>
          <a:solidFill>
            <a:srgbClr val="3D6B4A"/>
          </a:solidFill>
          <a:ln cap="flat" cmpd="sng" w="9800">
            <a:solidFill>
              <a:srgbClr val="3D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650" lIns="70650" spcFirstLastPara="1" rIns="70650" wrap="square" tIns="70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6604138" y="1649401"/>
            <a:ext cx="325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2"/>
              <a:buFont typeface="Calibri"/>
              <a:buNone/>
            </a:pPr>
            <a:r>
              <a:rPr b="1" i="0" lang="en" sz="108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8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6604138" y="2073384"/>
            <a:ext cx="2261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68"/>
              <a:buFont typeface="Cambria"/>
              <a:buNone/>
            </a:pPr>
            <a:r>
              <a:rPr b="1" i="0" lang="en" sz="1468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Catch</a:t>
            </a:r>
            <a:endParaRPr b="0" i="0" sz="146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6604138" y="2412571"/>
            <a:ext cx="22896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43"/>
              <a:buFont typeface="Calibri"/>
              <a:buNone/>
            </a:pPr>
            <a:r>
              <a:rPr b="0" i="0" lang="en" sz="104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The confidence check fires on an ambiguous match, blocking the transfer and forcing a confirmation.</a:t>
            </a:r>
            <a:endParaRPr b="0" i="0" sz="104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640075" y="3733987"/>
            <a:ext cx="8430300" cy="1095300"/>
          </a:xfrm>
          <a:prstGeom prst="roundRect">
            <a:avLst>
              <a:gd fmla="val 5161" name="adj"/>
            </a:avLst>
          </a:prstGeom>
          <a:solidFill>
            <a:srgbClr val="E8EAEC"/>
          </a:solidFill>
          <a:ln cap="flat" cmpd="sng" w="98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650" lIns="70650" spcFirstLastPara="1" rIns="70650" wrap="square" tIns="70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887400" y="3839983"/>
            <a:ext cx="793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314"/>
              <a:buFont typeface="Calibri"/>
              <a:buNone/>
            </a:pPr>
            <a:r>
              <a:rPr b="0" i="0" lang="en" sz="1314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What the manager sees is not “the AI got it right.”</a:t>
            </a:r>
            <a:endParaRPr b="0" i="0" sz="131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 txBox="1"/>
          <p:nvPr/>
        </p:nvSpPr>
        <p:spPr>
          <a:xfrm>
            <a:off x="887400" y="4179169"/>
            <a:ext cx="79356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46"/>
              <a:buFont typeface="Calibri"/>
              <a:buNone/>
            </a:pPr>
            <a:r>
              <a:rPr b="1" i="0" lang="en" sz="1546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It is the receipt — the retrieved record, in the trace, clickable, timestamped.</a:t>
            </a:r>
            <a:endParaRPr b="0" i="0" sz="15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 txBox="1"/>
          <p:nvPr>
            <p:ph type="title"/>
          </p:nvPr>
        </p:nvSpPr>
        <p:spPr>
          <a:xfrm>
            <a:off x="549825" y="343675"/>
            <a:ext cx="731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Evaluations</a:t>
            </a:r>
            <a:endParaRPr sz="2600"/>
          </a:p>
        </p:txBody>
      </p:sp>
      <p:sp>
        <p:nvSpPr>
          <p:cNvPr id="291" name="Google Shape;291;p11"/>
          <p:cNvSpPr txBox="1"/>
          <p:nvPr/>
        </p:nvSpPr>
        <p:spPr>
          <a:xfrm>
            <a:off x="601975" y="1083422"/>
            <a:ext cx="765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200"/>
              <a:buFont typeface="Cambria"/>
              <a:buNone/>
            </a:pPr>
            <a:r>
              <a:rPr b="1" i="0" lang="en" sz="2100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The regression suite</a:t>
            </a:r>
            <a:r>
              <a:rPr b="1" i="0" lang="en" sz="2300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601975" y="1602085"/>
            <a:ext cx="1912500" cy="746700"/>
          </a:xfrm>
          <a:prstGeom prst="roundRect">
            <a:avLst>
              <a:gd fmla="val 8421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"/>
          <p:cNvSpPr txBox="1"/>
          <p:nvPr/>
        </p:nvSpPr>
        <p:spPr>
          <a:xfrm>
            <a:off x="601975" y="1602085"/>
            <a:ext cx="1912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2514549" y="1602085"/>
            <a:ext cx="2781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2792742" y="1602085"/>
            <a:ext cx="1912500" cy="746700"/>
          </a:xfrm>
          <a:prstGeom prst="roundRect">
            <a:avLst>
              <a:gd fmla="val 8421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 txBox="1"/>
          <p:nvPr/>
        </p:nvSpPr>
        <p:spPr>
          <a:xfrm>
            <a:off x="2792742" y="1602085"/>
            <a:ext cx="1912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Eval run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 txBox="1"/>
          <p:nvPr/>
        </p:nvSpPr>
        <p:spPr>
          <a:xfrm>
            <a:off x="4705316" y="1602085"/>
            <a:ext cx="2781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4983508" y="1602085"/>
            <a:ext cx="1912500" cy="746700"/>
          </a:xfrm>
          <a:prstGeom prst="roundRect">
            <a:avLst>
              <a:gd fmla="val 8421" name="adj"/>
            </a:avLst>
          </a:prstGeom>
          <a:solidFill>
            <a:srgbClr val="E8EAEC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 txBox="1"/>
          <p:nvPr/>
        </p:nvSpPr>
        <p:spPr>
          <a:xfrm>
            <a:off x="4983508" y="1602085"/>
            <a:ext cx="1912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Gate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6896082" y="1602085"/>
            <a:ext cx="2781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7174275" y="1602085"/>
            <a:ext cx="1912500" cy="746700"/>
          </a:xfrm>
          <a:prstGeom prst="roundRect">
            <a:avLst>
              <a:gd fmla="val 8421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7174275" y="1602085"/>
            <a:ext cx="1912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4983508" y="2387729"/>
            <a:ext cx="19125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Failed gate blocks the deploy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 txBox="1"/>
          <p:nvPr/>
        </p:nvSpPr>
        <p:spPr>
          <a:xfrm>
            <a:off x="601975" y="2819833"/>
            <a:ext cx="8297100" cy="25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 fixed set of inputs with known-good expectations, run on every change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Catches the thing that will hurt us most: </a:t>
            </a:r>
            <a:r>
              <a:rPr b="1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 prompt tweak </a:t>
            </a:r>
            <a:r>
              <a:rPr b="0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that fixes one case and silently breaks eleven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For our scenario, the eval set lists instructions with the payee that should be selected — including the nasty ones: the joint account, the initial-only variant, the never-used payee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Belongs in the pipeline, not in someone’s notebook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Build eval-set creation into the estimate from day one. It is a deliverable with its own effort, not a testing afterthought.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Rough shape: 100–300 cases for a first production feature, growing with every incident  [illustrative]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"/>
          <p:cNvSpPr txBox="1"/>
          <p:nvPr>
            <p:ph type="title"/>
          </p:nvPr>
        </p:nvSpPr>
        <p:spPr>
          <a:xfrm>
            <a:off x="549825" y="343675"/>
            <a:ext cx="731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Multi Agents</a:t>
            </a:r>
            <a:endParaRPr sz="2600"/>
          </a:p>
        </p:txBody>
      </p:sp>
      <p:sp>
        <p:nvSpPr>
          <p:cNvPr id="310" name="Google Shape;310;p12"/>
          <p:cNvSpPr txBox="1"/>
          <p:nvPr/>
        </p:nvSpPr>
        <p:spPr>
          <a:xfrm>
            <a:off x="864850" y="1151863"/>
            <a:ext cx="772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200"/>
              <a:buFont typeface="Cambria"/>
              <a:buNone/>
            </a:pPr>
            <a:r>
              <a:rPr b="1" i="0" lang="en" sz="2100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Multi-agent: when to use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8261465" y="657225"/>
            <a:ext cx="758700" cy="255300"/>
          </a:xfrm>
          <a:prstGeom prst="roundRect">
            <a:avLst>
              <a:gd fmla="val 47059" name="adj"/>
            </a:avLst>
          </a:prstGeom>
          <a:solidFill>
            <a:srgbClr val="B03A2E"/>
          </a:solidFill>
          <a:ln cap="flat" cmpd="sng" w="12700">
            <a:solidFill>
              <a:srgbClr val="B0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2"/>
          <p:cNvSpPr txBox="1"/>
          <p:nvPr/>
        </p:nvSpPr>
        <p:spPr>
          <a:xfrm>
            <a:off x="8261465" y="657225"/>
            <a:ext cx="7587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40075" y="1821670"/>
            <a:ext cx="4144200" cy="2066100"/>
          </a:xfrm>
          <a:prstGeom prst="roundRect">
            <a:avLst>
              <a:gd fmla="val 2909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864853" y="1971921"/>
            <a:ext cx="37227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6B4A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3D6B4A"/>
                </a:solidFill>
                <a:latin typeface="Calibri"/>
                <a:ea typeface="Calibri"/>
                <a:cs typeface="Calibri"/>
                <a:sym typeface="Calibri"/>
              </a:rPr>
              <a:t>Use when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 txBox="1"/>
          <p:nvPr/>
        </p:nvSpPr>
        <p:spPr>
          <a:xfrm>
            <a:off x="864853" y="2294960"/>
            <a:ext cx="3722700" cy="15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Calibri"/>
              <a:buChar char="•"/>
            </a:pPr>
            <a:r>
              <a:rPr b="0" i="0" lang="en" sz="13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Genuinely separable responsibilities, different tools per role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Calibri"/>
              <a:buChar char="•"/>
            </a:pPr>
            <a:r>
              <a:rPr b="0" i="0" lang="en" sz="13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One agent resolves the payee; a second independently verifies it against the master record before the transfer executes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Calibri"/>
              <a:buChar char="•"/>
            </a:pPr>
            <a:r>
              <a:rPr b="0" i="0" lang="en" sz="13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The check is real because the checker did not make the original decision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4889790" y="1821670"/>
            <a:ext cx="4130100" cy="2066100"/>
          </a:xfrm>
          <a:prstGeom prst="roundRect">
            <a:avLst>
              <a:gd fmla="val 2909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 txBox="1"/>
          <p:nvPr/>
        </p:nvSpPr>
        <p:spPr>
          <a:xfrm>
            <a:off x="5114569" y="1971921"/>
            <a:ext cx="37227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Doesn’t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 txBox="1"/>
          <p:nvPr/>
        </p:nvSpPr>
        <p:spPr>
          <a:xfrm>
            <a:off x="5114569" y="2294960"/>
            <a:ext cx="3722700" cy="15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Calibri"/>
              <a:buChar char="•"/>
            </a:pPr>
            <a:r>
              <a:rPr b="0" i="0" lang="en" sz="13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 single linear task split up because multi-agent sounds sophisticated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Calibri"/>
              <a:buChar char="•"/>
            </a:pPr>
            <a:r>
              <a:rPr b="0" i="0" lang="en" sz="13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More calls, more tokens, more latency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Calibri"/>
              <a:buChar char="•"/>
            </a:pPr>
            <a:r>
              <a:rPr b="0" i="0" lang="en" sz="13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More places to fail, and harder to trace when it does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640075" y="4075434"/>
            <a:ext cx="8380200" cy="788700"/>
          </a:xfrm>
          <a:prstGeom prst="roundRect">
            <a:avLst>
              <a:gd fmla="val 7619" name="adj"/>
            </a:avLst>
          </a:prstGeom>
          <a:solidFill>
            <a:srgbClr val="E8EAEC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885926" y="4075434"/>
            <a:ext cx="78882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Start with one agent and a good harness. Split only when you can name the specific thing the split fixes.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"/>
          <p:cNvSpPr txBox="1"/>
          <p:nvPr>
            <p:ph type="title"/>
          </p:nvPr>
        </p:nvSpPr>
        <p:spPr>
          <a:xfrm>
            <a:off x="549825" y="343675"/>
            <a:ext cx="731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Lifecycle </a:t>
            </a:r>
            <a:endParaRPr sz="2600"/>
          </a:p>
        </p:txBody>
      </p:sp>
      <p:sp>
        <p:nvSpPr>
          <p:cNvPr id="326" name="Google Shape;326;p13"/>
          <p:cNvSpPr txBox="1"/>
          <p:nvPr/>
        </p:nvSpPr>
        <p:spPr>
          <a:xfrm>
            <a:off x="858716" y="918300"/>
            <a:ext cx="75159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764"/>
              <a:buFont typeface="Cambria"/>
              <a:buNone/>
            </a:pPr>
            <a:r>
              <a:rPr b="1" i="0" lang="en" sz="2100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What changes, stage by stage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640075" y="1392495"/>
            <a:ext cx="8151600" cy="634200"/>
          </a:xfrm>
          <a:prstGeom prst="roundRect">
            <a:avLst>
              <a:gd fmla="val 8696" name="adj"/>
            </a:avLst>
          </a:prstGeom>
          <a:solidFill>
            <a:srgbClr val="F2F2F2"/>
          </a:solidFill>
          <a:ln cap="flat" cmpd="sng" w="1097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 txBox="1"/>
          <p:nvPr/>
        </p:nvSpPr>
        <p:spPr>
          <a:xfrm>
            <a:off x="858718" y="1392495"/>
            <a:ext cx="17079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82"/>
              <a:buFont typeface="Calibri"/>
              <a:buNone/>
            </a:pPr>
            <a:r>
              <a:rPr b="1" i="0" lang="en" sz="1382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b="0" i="0" sz="138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 txBox="1"/>
          <p:nvPr/>
        </p:nvSpPr>
        <p:spPr>
          <a:xfrm>
            <a:off x="2689857" y="1392495"/>
            <a:ext cx="58968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9"/>
              <a:buFont typeface="Calibri"/>
              <a:buNone/>
            </a:pPr>
            <a:r>
              <a:rPr b="0" i="0" lang="en" sz="120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Specify acceptable behaviour ranges and failure modes, not just features</a:t>
            </a:r>
            <a:endParaRPr b="0" i="0" sz="120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640075" y="2095521"/>
            <a:ext cx="8151600" cy="634200"/>
          </a:xfrm>
          <a:prstGeom prst="roundRect">
            <a:avLst>
              <a:gd fmla="val 8696" name="adj"/>
            </a:avLst>
          </a:prstGeom>
          <a:solidFill>
            <a:srgbClr val="F2F2F2"/>
          </a:solidFill>
          <a:ln cap="flat" cmpd="sng" w="1097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 txBox="1"/>
          <p:nvPr/>
        </p:nvSpPr>
        <p:spPr>
          <a:xfrm>
            <a:off x="858718" y="2095521"/>
            <a:ext cx="17079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82"/>
              <a:buFont typeface="Calibri"/>
              <a:buNone/>
            </a:pPr>
            <a:r>
              <a:rPr b="1" i="0" lang="en" sz="1382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Estimation</a:t>
            </a:r>
            <a:endParaRPr b="0" i="0" sz="138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 txBox="1"/>
          <p:nvPr/>
        </p:nvSpPr>
        <p:spPr>
          <a:xfrm>
            <a:off x="2689850" y="2095525"/>
            <a:ext cx="60540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9"/>
              <a:buFont typeface="Calibri"/>
              <a:buNone/>
            </a:pPr>
            <a:r>
              <a:rPr b="0" i="0" lang="en" sz="120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Add effort for eval sets, harness and observability. Timebox prompt iteration — don’t estimate it.</a:t>
            </a:r>
            <a:endParaRPr b="0" i="0" sz="120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640075" y="2798547"/>
            <a:ext cx="8151600" cy="634200"/>
          </a:xfrm>
          <a:prstGeom prst="roundRect">
            <a:avLst>
              <a:gd fmla="val 8696" name="adj"/>
            </a:avLst>
          </a:prstGeom>
          <a:solidFill>
            <a:srgbClr val="F2F2F2"/>
          </a:solidFill>
          <a:ln cap="flat" cmpd="sng" w="1097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 txBox="1"/>
          <p:nvPr/>
        </p:nvSpPr>
        <p:spPr>
          <a:xfrm>
            <a:off x="858718" y="2798547"/>
            <a:ext cx="17079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82"/>
              <a:buFont typeface="Calibri"/>
              <a:buNone/>
            </a:pPr>
            <a:r>
              <a:rPr b="1" i="0" lang="en" sz="1382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38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 txBox="1"/>
          <p:nvPr/>
        </p:nvSpPr>
        <p:spPr>
          <a:xfrm>
            <a:off x="2689857" y="2798547"/>
            <a:ext cx="58968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9"/>
              <a:buFont typeface="Calibri"/>
              <a:buNone/>
            </a:pPr>
            <a:r>
              <a:rPr b="0" i="0" lang="en" sz="120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Sampling and thresholds replace assertions. The eval set is the test suite.</a:t>
            </a:r>
            <a:endParaRPr b="0" i="0" sz="120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640075" y="3501574"/>
            <a:ext cx="8151600" cy="634200"/>
          </a:xfrm>
          <a:prstGeom prst="roundRect">
            <a:avLst>
              <a:gd fmla="val 8696" name="adj"/>
            </a:avLst>
          </a:prstGeom>
          <a:solidFill>
            <a:srgbClr val="F2F2F2"/>
          </a:solidFill>
          <a:ln cap="flat" cmpd="sng" w="1097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3"/>
          <p:cNvSpPr txBox="1"/>
          <p:nvPr/>
        </p:nvSpPr>
        <p:spPr>
          <a:xfrm>
            <a:off x="858718" y="3501574"/>
            <a:ext cx="17079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82"/>
              <a:buFont typeface="Calibri"/>
              <a:buNone/>
            </a:pPr>
            <a:r>
              <a:rPr b="1" i="0" lang="en" sz="1382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Release</a:t>
            </a:r>
            <a:endParaRPr b="0" i="0" sz="138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 txBox="1"/>
          <p:nvPr/>
        </p:nvSpPr>
        <p:spPr>
          <a:xfrm>
            <a:off x="2689857" y="3501574"/>
            <a:ext cx="58968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9"/>
              <a:buFont typeface="Calibri"/>
              <a:buNone/>
            </a:pPr>
            <a:r>
              <a:rPr b="0" i="0" lang="en" sz="120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Canary and staged rollout become close to mandatory — you cannot fully test in advance</a:t>
            </a:r>
            <a:endParaRPr b="0" i="0" sz="120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640075" y="4204600"/>
            <a:ext cx="8151600" cy="634200"/>
          </a:xfrm>
          <a:prstGeom prst="roundRect">
            <a:avLst>
              <a:gd fmla="val 8696" name="adj"/>
            </a:avLst>
          </a:prstGeom>
          <a:solidFill>
            <a:srgbClr val="F2F2F2"/>
          </a:solidFill>
          <a:ln cap="flat" cmpd="sng" w="1097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3"/>
          <p:cNvSpPr txBox="1"/>
          <p:nvPr/>
        </p:nvSpPr>
        <p:spPr>
          <a:xfrm>
            <a:off x="858718" y="4204600"/>
            <a:ext cx="17079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82"/>
              <a:buFont typeface="Calibri"/>
              <a:buNone/>
            </a:pPr>
            <a:r>
              <a:rPr b="1" i="0" lang="en" sz="1382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Support</a:t>
            </a:r>
            <a:endParaRPr b="0" i="0" sz="138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 txBox="1"/>
          <p:nvPr/>
        </p:nvSpPr>
        <p:spPr>
          <a:xfrm>
            <a:off x="2689857" y="4204600"/>
            <a:ext cx="58968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9"/>
              <a:buFont typeface="Calibri"/>
              <a:buNone/>
            </a:pPr>
            <a:r>
              <a:rPr b="0" i="0" lang="en" sz="120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Capture the trace, not just the screenshot. Without it the issue is unreproducible.</a:t>
            </a:r>
            <a:endParaRPr b="0" i="0" sz="120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"/>
          <p:cNvSpPr txBox="1"/>
          <p:nvPr>
            <p:ph type="title"/>
          </p:nvPr>
        </p:nvSpPr>
        <p:spPr>
          <a:xfrm>
            <a:off x="549825" y="343675"/>
            <a:ext cx="731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Vibe Coding</a:t>
            </a:r>
            <a:endParaRPr sz="2600"/>
          </a:p>
        </p:txBody>
      </p:sp>
      <p:sp>
        <p:nvSpPr>
          <p:cNvPr id="347" name="Google Shape;347;p14"/>
          <p:cNvSpPr txBox="1"/>
          <p:nvPr/>
        </p:nvSpPr>
        <p:spPr>
          <a:xfrm>
            <a:off x="697225" y="1034913"/>
            <a:ext cx="840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200"/>
              <a:buFont typeface="Cambria"/>
              <a:buNone/>
            </a:pPr>
            <a:r>
              <a:rPr b="1" i="0" lang="en" sz="2100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What your developers are already doing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8" name="Google Shape;348;p14"/>
          <p:cNvGraphicFramePr/>
          <p:nvPr/>
        </p:nvGraphicFramePr>
        <p:xfrm>
          <a:off x="697230" y="14725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{FA75D88B-E420-4B70-8462-ACC54954345F}</a:tableStyleId>
              </a:tblPr>
              <a:tblGrid>
                <a:gridCol w="3672300"/>
                <a:gridCol w="4293275"/>
              </a:tblGrid>
              <a:tr h="48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450"/>
                        <a:buFont typeface="Calibri"/>
                        <a:buNone/>
                      </a:pPr>
                      <a:r>
                        <a:rPr b="1" lang="en" sz="145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the developer does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450"/>
                        <a:buFont typeface="Calibri"/>
                        <a:buNone/>
                      </a:pPr>
                      <a:r>
                        <a:rPr b="1" lang="en" sz="145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you should be able to see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450"/>
                        <a:buFont typeface="Calibri"/>
                        <a:buNone/>
                      </a:pPr>
                      <a:r>
                        <a:rPr lang="en" sz="145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Generates a feature with a coding agent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450"/>
                        <a:buFont typeface="Calibri"/>
                        <a:buNone/>
                      </a:pPr>
                      <a:r>
                        <a:rPr lang="en" sz="145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Reviewed at the same standard, not waved through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450"/>
                        <a:buFont typeface="Calibri"/>
                        <a:buNone/>
                      </a:pPr>
                      <a:r>
                        <a:rPr lang="en" sz="145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Generates the tests alongside it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450"/>
                        <a:buFont typeface="Calibri"/>
                        <a:buNone/>
                      </a:pPr>
                      <a:r>
                        <a:rPr lang="en" sz="145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Tests written for behaviour, not blind to the same mistake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450"/>
                        <a:buFont typeface="Calibri"/>
                        <a:buNone/>
                      </a:pPr>
                      <a:r>
                        <a:rPr lang="en" sz="145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Ships a large, fast diff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450"/>
                        <a:buFont typeface="Calibri"/>
                        <a:buNone/>
                      </a:pPr>
                      <a:r>
                        <a:rPr lang="en" sz="145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Which parts were AI-authored — you will want this in an incident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450"/>
                        <a:buFont typeface="Calibri"/>
                        <a:buNone/>
                      </a:pPr>
                      <a:r>
                        <a:rPr lang="en" sz="145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Lets the agent “helpfully” do more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450"/>
                        <a:buFont typeface="Calibri"/>
                        <a:buNone/>
                      </a:pPr>
                      <a:r>
                        <a:rPr lang="en" sz="145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 of the diff matches the scope of the ticket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450"/>
                        <a:buFont typeface="Calibri"/>
                        <a:buNone/>
                      </a:pPr>
                      <a:r>
                        <a:rPr lang="en" sz="145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Accepts a suggested library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450"/>
                        <a:buFont typeface="Calibri"/>
                        <a:buNone/>
                      </a:pPr>
                      <a:r>
                        <a:rPr lang="en" sz="145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 dependencies get a security and procurement conversation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5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9" name="Google Shape;349;p14"/>
          <p:cNvSpPr txBox="1"/>
          <p:nvPr/>
        </p:nvSpPr>
        <p:spPr>
          <a:xfrm>
            <a:off x="477150" y="4605350"/>
            <a:ext cx="8189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50"/>
              <a:buFont typeface="Calibri"/>
              <a:buNone/>
            </a:pPr>
            <a:r>
              <a:rPr b="1" i="0" lang="en" sz="15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This is happening whether or not it is on your plan. The productivity is real — so is the review debt.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"/>
          <p:cNvSpPr txBox="1"/>
          <p:nvPr>
            <p:ph type="title"/>
          </p:nvPr>
        </p:nvSpPr>
        <p:spPr>
          <a:xfrm>
            <a:off x="549825" y="343675"/>
            <a:ext cx="57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Observability</a:t>
            </a:r>
            <a:endParaRPr sz="2600"/>
          </a:p>
        </p:txBody>
      </p:sp>
      <p:sp>
        <p:nvSpPr>
          <p:cNvPr id="355" name="Google Shape;355;p15"/>
          <p:cNvSpPr txBox="1"/>
          <p:nvPr/>
        </p:nvSpPr>
        <p:spPr>
          <a:xfrm>
            <a:off x="793025" y="1027971"/>
            <a:ext cx="7647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200"/>
              <a:buFont typeface="Cambria"/>
              <a:buNone/>
            </a:pPr>
            <a:r>
              <a:rPr b="1" i="0" lang="en" sz="2100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What you should be able to see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725800" y="1465425"/>
            <a:ext cx="1854900" cy="1149900"/>
          </a:xfrm>
          <a:prstGeom prst="roundRect">
            <a:avLst>
              <a:gd fmla="val 5333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5"/>
          <p:cNvSpPr txBox="1"/>
          <p:nvPr/>
        </p:nvSpPr>
        <p:spPr>
          <a:xfrm>
            <a:off x="874187" y="1657064"/>
            <a:ext cx="15849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Failure rate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 txBox="1"/>
          <p:nvPr/>
        </p:nvSpPr>
        <p:spPr>
          <a:xfrm>
            <a:off x="874187" y="2002015"/>
            <a:ext cx="15849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of runs that don’t meet the bar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2782983" y="1465425"/>
            <a:ext cx="1854900" cy="1149900"/>
          </a:xfrm>
          <a:prstGeom prst="roundRect">
            <a:avLst>
              <a:gd fmla="val 5333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5"/>
          <p:cNvSpPr txBox="1"/>
          <p:nvPr/>
        </p:nvSpPr>
        <p:spPr>
          <a:xfrm>
            <a:off x="2931370" y="1657064"/>
            <a:ext cx="15849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Check trip rate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 txBox="1"/>
          <p:nvPr/>
        </p:nvSpPr>
        <p:spPr>
          <a:xfrm>
            <a:off x="2931370" y="2002015"/>
            <a:ext cx="15849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how often guardrails fire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4840166" y="1465425"/>
            <a:ext cx="1854900" cy="1149900"/>
          </a:xfrm>
          <a:prstGeom prst="roundRect">
            <a:avLst>
              <a:gd fmla="val 5333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4988553" y="1657064"/>
            <a:ext cx="15849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 txBox="1"/>
          <p:nvPr/>
        </p:nvSpPr>
        <p:spPr>
          <a:xfrm>
            <a:off x="4988553" y="2002015"/>
            <a:ext cx="15849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p50 and p95, not average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6897349" y="1465425"/>
            <a:ext cx="1854900" cy="1149900"/>
          </a:xfrm>
          <a:prstGeom prst="roundRect">
            <a:avLst>
              <a:gd fmla="val 5333" name="adj"/>
            </a:avLst>
          </a:prstGeom>
          <a:solidFill>
            <a:srgbClr val="F2F2F2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5"/>
          <p:cNvSpPr txBox="1"/>
          <p:nvPr/>
        </p:nvSpPr>
        <p:spPr>
          <a:xfrm>
            <a:off x="7045736" y="1657064"/>
            <a:ext cx="15849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Cost / txn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 txBox="1"/>
          <p:nvPr/>
        </p:nvSpPr>
        <p:spPr>
          <a:xfrm>
            <a:off x="7045736" y="2002015"/>
            <a:ext cx="15849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the one that compounds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 txBox="1"/>
          <p:nvPr/>
        </p:nvSpPr>
        <p:spPr>
          <a:xfrm>
            <a:off x="725800" y="2806900"/>
            <a:ext cx="8046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Per request: which steps ran, what was retrieved, which tools were called, what was rejected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libri"/>
              <a:buChar char="•"/>
            </a:pPr>
            <a:r>
              <a:rPr b="1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The manager’s version of the dashboard is four numbers — not four hundred traces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725800" y="3765097"/>
            <a:ext cx="8046600" cy="1149900"/>
          </a:xfrm>
          <a:prstGeom prst="roundRect">
            <a:avLst>
              <a:gd fmla="val 5333" name="adj"/>
            </a:avLst>
          </a:prstGeom>
          <a:solidFill>
            <a:srgbClr val="E8EAEC"/>
          </a:solidFill>
          <a:ln cap="flat" cmpd="sng" w="127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5"/>
          <p:cNvSpPr txBox="1"/>
          <p:nvPr/>
        </p:nvSpPr>
        <p:spPr>
          <a:xfrm>
            <a:off x="961870" y="3918408"/>
            <a:ext cx="75744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Calibri"/>
              <a:buNone/>
            </a:pPr>
            <a:r>
              <a:rPr b="1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For production: this is OpenTelemetry, exported to Azure Application Insights.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 txBox="1"/>
          <p:nvPr/>
        </p:nvSpPr>
        <p:spPr>
          <a:xfrm>
            <a:off x="961870" y="4301687"/>
            <a:ext cx="75744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The same pipeline our existing applications already use. This is not a new tooling silo.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6"/>
          <p:cNvSpPr txBox="1"/>
          <p:nvPr>
            <p:ph type="title"/>
          </p:nvPr>
        </p:nvSpPr>
        <p:spPr>
          <a:xfrm>
            <a:off x="549825" y="343675"/>
            <a:ext cx="57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Cost Impact</a:t>
            </a:r>
            <a:endParaRPr sz="2600"/>
          </a:p>
        </p:txBody>
      </p:sp>
      <p:sp>
        <p:nvSpPr>
          <p:cNvPr id="377" name="Google Shape;377;p16"/>
          <p:cNvSpPr txBox="1"/>
          <p:nvPr/>
        </p:nvSpPr>
        <p:spPr>
          <a:xfrm>
            <a:off x="862550" y="976575"/>
            <a:ext cx="76479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82"/>
              <a:buFont typeface="Cambria"/>
              <a:buNone/>
            </a:pPr>
            <a:r>
              <a:rPr b="1" i="0" lang="en" sz="2100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Where the money actually goes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8183544" y="274325"/>
            <a:ext cx="750900" cy="244500"/>
          </a:xfrm>
          <a:prstGeom prst="roundRect">
            <a:avLst>
              <a:gd fmla="val 47059" name="adj"/>
            </a:avLst>
          </a:prstGeom>
          <a:solidFill>
            <a:srgbClr val="B03A2E"/>
          </a:solidFill>
          <a:ln cap="flat" cmpd="sng" w="9850">
            <a:solidFill>
              <a:srgbClr val="B0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00" lIns="70900" spcFirstLastPara="1" rIns="70900" wrap="square" tIns="7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6"/>
          <p:cNvSpPr txBox="1"/>
          <p:nvPr/>
        </p:nvSpPr>
        <p:spPr>
          <a:xfrm>
            <a:off x="8183544" y="274325"/>
            <a:ext cx="7509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76"/>
              <a:buFont typeface="Calibri"/>
              <a:buNone/>
            </a:pPr>
            <a:r>
              <a:rPr b="1" i="0" lang="en" sz="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7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640075" y="1389489"/>
            <a:ext cx="4101900" cy="1583100"/>
          </a:xfrm>
          <a:prstGeom prst="roundRect">
            <a:avLst>
              <a:gd fmla="val 3636" name="adj"/>
            </a:avLst>
          </a:prstGeom>
          <a:solidFill>
            <a:srgbClr val="F2F2F2"/>
          </a:solidFill>
          <a:ln cap="flat" cmpd="sng" w="985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00" lIns="70900" spcFirstLastPara="1" rIns="70900" wrap="square" tIns="7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6"/>
          <p:cNvSpPr txBox="1"/>
          <p:nvPr/>
        </p:nvSpPr>
        <p:spPr>
          <a:xfrm>
            <a:off x="862555" y="1569354"/>
            <a:ext cx="36849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163"/>
              <a:buFont typeface="Calibri"/>
              <a:buNone/>
            </a:pPr>
            <a:r>
              <a:rPr b="1" i="0" lang="en" sz="1163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Guardrails off</a:t>
            </a:r>
            <a:endParaRPr b="0" i="0" sz="11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 txBox="1"/>
          <p:nvPr/>
        </p:nvSpPr>
        <p:spPr>
          <a:xfrm>
            <a:off x="862555" y="1929084"/>
            <a:ext cx="3684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51"/>
              <a:buFont typeface="Calibri"/>
              <a:buNone/>
            </a:pPr>
            <a:r>
              <a:rPr b="1" i="0" lang="en" sz="1551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1 call  ·  low cost  ·  fast</a:t>
            </a:r>
            <a:endParaRPr b="0" i="0" sz="155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 txBox="1"/>
          <p:nvPr/>
        </p:nvSpPr>
        <p:spPr>
          <a:xfrm>
            <a:off x="862555" y="2360761"/>
            <a:ext cx="3684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086"/>
              <a:buFont typeface="Calibri"/>
              <a:buNone/>
            </a:pPr>
            <a:r>
              <a:rPr b="0" i="1" lang="en" sz="1086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and occasionally pays the wrong Rajesh</a:t>
            </a:r>
            <a:endParaRPr b="0" i="0" sz="108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4846341" y="1389489"/>
            <a:ext cx="4088100" cy="1583100"/>
          </a:xfrm>
          <a:prstGeom prst="roundRect">
            <a:avLst>
              <a:gd fmla="val 3636" name="adj"/>
            </a:avLst>
          </a:prstGeom>
          <a:solidFill>
            <a:srgbClr val="F2F2F2"/>
          </a:solidFill>
          <a:ln cap="flat" cmpd="sng" w="985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00" lIns="70900" spcFirstLastPara="1" rIns="70900" wrap="square" tIns="7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6"/>
          <p:cNvSpPr txBox="1"/>
          <p:nvPr/>
        </p:nvSpPr>
        <p:spPr>
          <a:xfrm>
            <a:off x="5068822" y="1569354"/>
            <a:ext cx="36849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163"/>
              <a:buFont typeface="Calibri"/>
              <a:buNone/>
            </a:pPr>
            <a:r>
              <a:rPr b="1" i="0" lang="en" sz="1163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Guardrails on</a:t>
            </a:r>
            <a:endParaRPr b="0" i="0" sz="11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 txBox="1"/>
          <p:nvPr/>
        </p:nvSpPr>
        <p:spPr>
          <a:xfrm>
            <a:off x="5068822" y="1929084"/>
            <a:ext cx="3684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51"/>
              <a:buFont typeface="Calibri"/>
              <a:buNone/>
            </a:pPr>
            <a:r>
              <a:rPr b="1" i="0" lang="en" sz="1551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retrieval + verify + check</a:t>
            </a:r>
            <a:endParaRPr b="0" i="0" sz="155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 txBox="1"/>
          <p:nvPr/>
        </p:nvSpPr>
        <p:spPr>
          <a:xfrm>
            <a:off x="5068822" y="2360761"/>
            <a:ext cx="3684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6B4A"/>
              </a:buClr>
              <a:buSzPts val="1086"/>
              <a:buFont typeface="Calibri"/>
              <a:buNone/>
            </a:pPr>
            <a:r>
              <a:rPr b="0" i="1" lang="en" sz="1086" u="none" cap="none" strike="noStrike">
                <a:solidFill>
                  <a:srgbClr val="3D6B4A"/>
                </a:solidFill>
                <a:latin typeface="Calibri"/>
                <a:ea typeface="Calibri"/>
                <a:cs typeface="Calibri"/>
                <a:sym typeface="Calibri"/>
              </a:rPr>
              <a:t>live token cost shown in Langfuse</a:t>
            </a:r>
            <a:endParaRPr b="0" i="0" sz="108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 txBox="1"/>
          <p:nvPr/>
        </p:nvSpPr>
        <p:spPr>
          <a:xfrm>
            <a:off x="640075" y="3152167"/>
            <a:ext cx="8294400" cy="12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5925" lvl="0" marL="265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63"/>
              <a:buFont typeface="Calibri"/>
              <a:buChar char="•"/>
            </a:pPr>
            <a:r>
              <a:rPr b="0" i="0" lang="en" sz="116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Cost is per-transaction and variable — volume growth and quality measures both push it up</a:t>
            </a:r>
            <a:endParaRPr b="0" i="0" sz="11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5925" lvl="0" marL="265925" marR="0" rtl="0" algn="l">
              <a:lnSpc>
                <a:spcPct val="100000"/>
              </a:lnSpc>
              <a:spcBef>
                <a:spcPts val="698"/>
              </a:spcBef>
              <a:spcAft>
                <a:spcPts val="0"/>
              </a:spcAft>
              <a:buClr>
                <a:srgbClr val="212121"/>
              </a:buClr>
              <a:buSzPts val="1163"/>
              <a:buFont typeface="Calibri"/>
              <a:buChar char="•"/>
            </a:pPr>
            <a:r>
              <a:rPr b="0" i="0" lang="en" sz="116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The counter-intuitive part: retries, validation, larger retrieved context, multi-agent handoffs and CI evals all add cost</a:t>
            </a:r>
            <a:endParaRPr b="0" i="0" sz="11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5925" lvl="0" marL="265925" marR="0" rtl="0" algn="l">
              <a:lnSpc>
                <a:spcPct val="100000"/>
              </a:lnSpc>
              <a:spcBef>
                <a:spcPts val="698"/>
              </a:spcBef>
              <a:spcAft>
                <a:spcPts val="0"/>
              </a:spcAft>
              <a:buClr>
                <a:srgbClr val="212121"/>
              </a:buClr>
              <a:buSzPts val="1163"/>
              <a:buFont typeface="Calibri"/>
              <a:buChar char="•"/>
            </a:pPr>
            <a:r>
              <a:rPr b="0" i="0" lang="en" sz="116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Plus the infrastructure line — the hosted demo itself, and what it costs to leave running</a:t>
            </a:r>
            <a:endParaRPr b="0" i="0" sz="11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640075" y="4375250"/>
            <a:ext cx="8294400" cy="539700"/>
          </a:xfrm>
          <a:prstGeom prst="roundRect">
            <a:avLst>
              <a:gd fmla="val 10667" name="adj"/>
            </a:avLst>
          </a:prstGeom>
          <a:solidFill>
            <a:srgbClr val="E8EAEC"/>
          </a:solidFill>
          <a:ln cap="flat" cmpd="sng" w="985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00" lIns="70900" spcFirstLastPara="1" rIns="70900" wrap="square" tIns="7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6"/>
          <p:cNvSpPr txBox="1"/>
          <p:nvPr/>
        </p:nvSpPr>
        <p:spPr>
          <a:xfrm>
            <a:off x="883413" y="4375250"/>
            <a:ext cx="78075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41"/>
              <a:buFont typeface="Calibri"/>
              <a:buNone/>
            </a:pPr>
            <a:r>
              <a:rPr b="1" i="0" lang="en" sz="1241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Reliability isn’t free — and it lands in run cost, every month, not in the project budget.</a:t>
            </a:r>
            <a:endParaRPr b="0" i="0" sz="124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"/>
          <p:cNvSpPr txBox="1"/>
          <p:nvPr>
            <p:ph type="title"/>
          </p:nvPr>
        </p:nvSpPr>
        <p:spPr>
          <a:xfrm>
            <a:off x="549825" y="343675"/>
            <a:ext cx="57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Cost Impact</a:t>
            </a:r>
            <a:endParaRPr sz="2600"/>
          </a:p>
        </p:txBody>
      </p:sp>
      <p:sp>
        <p:nvSpPr>
          <p:cNvPr id="396" name="Google Shape;396;p17"/>
          <p:cNvSpPr txBox="1"/>
          <p:nvPr/>
        </p:nvSpPr>
        <p:spPr>
          <a:xfrm>
            <a:off x="836100" y="911800"/>
            <a:ext cx="770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37"/>
              <a:buFont typeface="Cambria"/>
              <a:buNone/>
            </a:pPr>
            <a:r>
              <a:rPr b="1" i="0" lang="en" sz="2100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Controlling it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640075" y="1518124"/>
            <a:ext cx="8351400" cy="508200"/>
          </a:xfrm>
          <a:prstGeom prst="roundRect">
            <a:avLst>
              <a:gd fmla="val 10256" name="adj"/>
            </a:avLst>
          </a:prstGeom>
          <a:solidFill>
            <a:srgbClr val="E8EAEC"/>
          </a:solidFill>
          <a:ln cap="flat" cmpd="sng" w="1125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50" lIns="81050" spcFirstLastPara="1" rIns="81050" wrap="square" tIns="8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836088" y="1641969"/>
            <a:ext cx="280200" cy="260700"/>
          </a:xfrm>
          <a:prstGeom prst="ellipse">
            <a:avLst/>
          </a:prstGeom>
          <a:solidFill>
            <a:srgbClr val="36454F"/>
          </a:solidFill>
          <a:ln cap="flat" cmpd="sng" w="11250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50" lIns="81050" spcFirstLastPara="1" rIns="81050" wrap="square" tIns="8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7"/>
          <p:cNvSpPr txBox="1"/>
          <p:nvPr/>
        </p:nvSpPr>
        <p:spPr>
          <a:xfrm>
            <a:off x="836088" y="1641969"/>
            <a:ext cx="280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4"/>
              <a:buFont typeface="Calibri"/>
              <a:buNone/>
            </a:pPr>
            <a:r>
              <a:rPr b="1" i="0" lang="en" sz="106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6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 txBox="1"/>
          <p:nvPr/>
        </p:nvSpPr>
        <p:spPr>
          <a:xfrm>
            <a:off x="1270117" y="1518124"/>
            <a:ext cx="75117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85"/>
              <a:buFont typeface="Calibri"/>
              <a:buNone/>
            </a:pPr>
            <a:r>
              <a:rPr b="0" i="0" lang="en" sz="1285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“Cheaper model + strong harness” beats “expensive model + weak harness” — the pattern we already use internally</a:t>
            </a:r>
            <a:endParaRPr b="0" i="0" sz="12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640075" y="2078687"/>
            <a:ext cx="8351400" cy="508200"/>
          </a:xfrm>
          <a:prstGeom prst="roundRect">
            <a:avLst>
              <a:gd fmla="val 10256" name="adj"/>
            </a:avLst>
          </a:prstGeom>
          <a:solidFill>
            <a:srgbClr val="F2F2F2"/>
          </a:solidFill>
          <a:ln cap="flat" cmpd="sng" w="1125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50" lIns="81050" spcFirstLastPara="1" rIns="81050" wrap="square" tIns="8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836088" y="2202533"/>
            <a:ext cx="280200" cy="260700"/>
          </a:xfrm>
          <a:prstGeom prst="ellipse">
            <a:avLst/>
          </a:prstGeom>
          <a:solidFill>
            <a:srgbClr val="36454F"/>
          </a:solidFill>
          <a:ln cap="flat" cmpd="sng" w="11250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50" lIns="81050" spcFirstLastPara="1" rIns="81050" wrap="square" tIns="8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7"/>
          <p:cNvSpPr txBox="1"/>
          <p:nvPr/>
        </p:nvSpPr>
        <p:spPr>
          <a:xfrm>
            <a:off x="836088" y="2202533"/>
            <a:ext cx="280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4"/>
              <a:buFont typeface="Calibri"/>
              <a:buNone/>
            </a:pPr>
            <a:r>
              <a:rPr b="1" i="0" lang="en" sz="106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6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7"/>
          <p:cNvSpPr txBox="1"/>
          <p:nvPr/>
        </p:nvSpPr>
        <p:spPr>
          <a:xfrm>
            <a:off x="1270117" y="2078687"/>
            <a:ext cx="75117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85"/>
              <a:buFont typeface="Calibri"/>
              <a:buNone/>
            </a:pPr>
            <a:r>
              <a:rPr b="0" i="0" lang="en" sz="1285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Route by difficulty — don’t send every request to the most capable model</a:t>
            </a:r>
            <a:endParaRPr b="0" i="0" sz="12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640075" y="2639250"/>
            <a:ext cx="8351400" cy="508200"/>
          </a:xfrm>
          <a:prstGeom prst="roundRect">
            <a:avLst>
              <a:gd fmla="val 10256" name="adj"/>
            </a:avLst>
          </a:prstGeom>
          <a:solidFill>
            <a:srgbClr val="F2F2F2"/>
          </a:solidFill>
          <a:ln cap="flat" cmpd="sng" w="1125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50" lIns="81050" spcFirstLastPara="1" rIns="81050" wrap="square" tIns="8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836088" y="2763096"/>
            <a:ext cx="280200" cy="260700"/>
          </a:xfrm>
          <a:prstGeom prst="ellipse">
            <a:avLst/>
          </a:prstGeom>
          <a:solidFill>
            <a:srgbClr val="36454F"/>
          </a:solidFill>
          <a:ln cap="flat" cmpd="sng" w="11250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50" lIns="81050" spcFirstLastPara="1" rIns="81050" wrap="square" tIns="8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7"/>
          <p:cNvSpPr txBox="1"/>
          <p:nvPr/>
        </p:nvSpPr>
        <p:spPr>
          <a:xfrm>
            <a:off x="836088" y="2763096"/>
            <a:ext cx="280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4"/>
              <a:buFont typeface="Calibri"/>
              <a:buNone/>
            </a:pPr>
            <a:r>
              <a:rPr b="1" i="0" lang="en" sz="106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6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 txBox="1"/>
          <p:nvPr/>
        </p:nvSpPr>
        <p:spPr>
          <a:xfrm>
            <a:off x="1270117" y="2639250"/>
            <a:ext cx="75117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85"/>
              <a:buFont typeface="Calibri"/>
              <a:buNone/>
            </a:pPr>
            <a:r>
              <a:rPr b="0" i="0" lang="en" sz="1285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Cache aggressively — repeated context is repeated spend</a:t>
            </a:r>
            <a:endParaRPr b="0" i="0" sz="12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640075" y="3199814"/>
            <a:ext cx="8351400" cy="508200"/>
          </a:xfrm>
          <a:prstGeom prst="roundRect">
            <a:avLst>
              <a:gd fmla="val 10256" name="adj"/>
            </a:avLst>
          </a:prstGeom>
          <a:solidFill>
            <a:srgbClr val="F2F2F2"/>
          </a:solidFill>
          <a:ln cap="flat" cmpd="sng" w="1125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50" lIns="81050" spcFirstLastPara="1" rIns="81050" wrap="square" tIns="8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836088" y="3323659"/>
            <a:ext cx="280200" cy="260700"/>
          </a:xfrm>
          <a:prstGeom prst="ellipse">
            <a:avLst/>
          </a:prstGeom>
          <a:solidFill>
            <a:srgbClr val="36454F"/>
          </a:solidFill>
          <a:ln cap="flat" cmpd="sng" w="11250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50" lIns="81050" spcFirstLastPara="1" rIns="81050" wrap="square" tIns="8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7"/>
          <p:cNvSpPr txBox="1"/>
          <p:nvPr/>
        </p:nvSpPr>
        <p:spPr>
          <a:xfrm>
            <a:off x="836088" y="3323659"/>
            <a:ext cx="280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4"/>
              <a:buFont typeface="Calibri"/>
              <a:buNone/>
            </a:pPr>
            <a:r>
              <a:rPr b="1" i="0" lang="en" sz="106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6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 txBox="1"/>
          <p:nvPr/>
        </p:nvSpPr>
        <p:spPr>
          <a:xfrm>
            <a:off x="1270117" y="3199814"/>
            <a:ext cx="75117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85"/>
              <a:buFont typeface="Calibri"/>
              <a:buNone/>
            </a:pPr>
            <a:r>
              <a:rPr b="0" i="0" lang="en" sz="1285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Cap retries and set hard loop limits — a runaway agent is a cost incident, not just a bug</a:t>
            </a:r>
            <a:endParaRPr b="0" i="0" sz="12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640075" y="3760377"/>
            <a:ext cx="8351400" cy="508200"/>
          </a:xfrm>
          <a:prstGeom prst="roundRect">
            <a:avLst>
              <a:gd fmla="val 10256" name="adj"/>
            </a:avLst>
          </a:prstGeom>
          <a:solidFill>
            <a:srgbClr val="F2F2F2"/>
          </a:solidFill>
          <a:ln cap="flat" cmpd="sng" w="1125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50" lIns="81050" spcFirstLastPara="1" rIns="81050" wrap="square" tIns="8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836088" y="3884222"/>
            <a:ext cx="280200" cy="260700"/>
          </a:xfrm>
          <a:prstGeom prst="ellipse">
            <a:avLst/>
          </a:prstGeom>
          <a:solidFill>
            <a:srgbClr val="36454F"/>
          </a:solidFill>
          <a:ln cap="flat" cmpd="sng" w="11250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50" lIns="81050" spcFirstLastPara="1" rIns="81050" wrap="square" tIns="8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7"/>
          <p:cNvSpPr txBox="1"/>
          <p:nvPr/>
        </p:nvSpPr>
        <p:spPr>
          <a:xfrm>
            <a:off x="836088" y="3884222"/>
            <a:ext cx="280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4"/>
              <a:buFont typeface="Calibri"/>
              <a:buNone/>
            </a:pPr>
            <a:r>
              <a:rPr b="1" i="0" lang="en" sz="106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6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 txBox="1"/>
          <p:nvPr/>
        </p:nvSpPr>
        <p:spPr>
          <a:xfrm>
            <a:off x="1270117" y="3760377"/>
            <a:ext cx="75117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85"/>
              <a:buFont typeface="Calibri"/>
              <a:buNone/>
            </a:pPr>
            <a:r>
              <a:rPr b="0" i="0" lang="en" sz="1285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Scale to zero on non-production environments</a:t>
            </a:r>
            <a:endParaRPr b="0" i="0" sz="12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640075" y="4320940"/>
            <a:ext cx="8351400" cy="508200"/>
          </a:xfrm>
          <a:prstGeom prst="roundRect">
            <a:avLst>
              <a:gd fmla="val 10256" name="adj"/>
            </a:avLst>
          </a:prstGeom>
          <a:solidFill>
            <a:srgbClr val="E8EAEC"/>
          </a:solidFill>
          <a:ln cap="flat" cmpd="sng" w="1125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50" lIns="81050" spcFirstLastPara="1" rIns="81050" wrap="square" tIns="8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836088" y="4444785"/>
            <a:ext cx="280200" cy="260700"/>
          </a:xfrm>
          <a:prstGeom prst="ellipse">
            <a:avLst/>
          </a:prstGeom>
          <a:solidFill>
            <a:srgbClr val="36454F"/>
          </a:solidFill>
          <a:ln cap="flat" cmpd="sng" w="11250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50" lIns="81050" spcFirstLastPara="1" rIns="81050" wrap="square" tIns="8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7"/>
          <p:cNvSpPr txBox="1"/>
          <p:nvPr/>
        </p:nvSpPr>
        <p:spPr>
          <a:xfrm>
            <a:off x="836088" y="4444785"/>
            <a:ext cx="280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4"/>
              <a:buFont typeface="Calibri"/>
              <a:buNone/>
            </a:pPr>
            <a:r>
              <a:rPr b="1" i="0" lang="en" sz="106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6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 txBox="1"/>
          <p:nvPr/>
        </p:nvSpPr>
        <p:spPr>
          <a:xfrm>
            <a:off x="1270117" y="4320940"/>
            <a:ext cx="75117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85"/>
              <a:buFont typeface="Calibri"/>
              <a:buNone/>
            </a:pPr>
            <a:r>
              <a:rPr b="0" i="0" lang="en" sz="1285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Set a per-feature cost budget at design time, and treat breaching it as a design defect</a:t>
            </a:r>
            <a:endParaRPr b="0" i="0" sz="12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8"/>
          <p:cNvSpPr txBox="1"/>
          <p:nvPr>
            <p:ph type="title"/>
          </p:nvPr>
        </p:nvSpPr>
        <p:spPr>
          <a:xfrm>
            <a:off x="549825" y="343675"/>
            <a:ext cx="723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Takeaway</a:t>
            </a:r>
            <a:endParaRPr sz="2600"/>
          </a:p>
        </p:txBody>
      </p:sp>
      <p:sp>
        <p:nvSpPr>
          <p:cNvPr id="426" name="Google Shape;426;p18"/>
          <p:cNvSpPr txBox="1"/>
          <p:nvPr/>
        </p:nvSpPr>
        <p:spPr>
          <a:xfrm>
            <a:off x="879900" y="1144920"/>
            <a:ext cx="73842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200"/>
              <a:buFont typeface="Cambria"/>
              <a:buNone/>
            </a:pPr>
            <a:r>
              <a:rPr b="1" i="0" lang="en" sz="2100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What to ask your teams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 txBox="1"/>
          <p:nvPr/>
        </p:nvSpPr>
        <p:spPr>
          <a:xfrm>
            <a:off x="859150" y="1778366"/>
            <a:ext cx="369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6E7B85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 txBox="1"/>
          <p:nvPr/>
        </p:nvSpPr>
        <p:spPr>
          <a:xfrm>
            <a:off x="1295486" y="1778366"/>
            <a:ext cx="7404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900"/>
              <a:buFont typeface="Calibri"/>
              <a:buNone/>
            </a:pPr>
            <a:r>
              <a:rPr b="0" i="0" lang="en" sz="1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What does “good enough” mean numerically for this feature?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 txBox="1"/>
          <p:nvPr/>
        </p:nvSpPr>
        <p:spPr>
          <a:xfrm>
            <a:off x="859150" y="2263819"/>
            <a:ext cx="369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6E7B85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 txBox="1"/>
          <p:nvPr/>
        </p:nvSpPr>
        <p:spPr>
          <a:xfrm>
            <a:off x="1295486" y="2263819"/>
            <a:ext cx="7404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900"/>
              <a:buFont typeface="Calibri"/>
              <a:buNone/>
            </a:pPr>
            <a:r>
              <a:rPr b="0" i="0" lang="en" sz="1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Where is the eval set, and how many cases?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 txBox="1"/>
          <p:nvPr/>
        </p:nvSpPr>
        <p:spPr>
          <a:xfrm>
            <a:off x="859150" y="2749272"/>
            <a:ext cx="369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6E7B85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 txBox="1"/>
          <p:nvPr/>
        </p:nvSpPr>
        <p:spPr>
          <a:xfrm>
            <a:off x="1295486" y="2749272"/>
            <a:ext cx="7404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900"/>
              <a:buFont typeface="Calibri"/>
              <a:buNone/>
            </a:pPr>
            <a:r>
              <a:rPr b="0" i="0" lang="en" sz="1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When the model gets it wrong, who or what catches it?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 txBox="1"/>
          <p:nvPr/>
        </p:nvSpPr>
        <p:spPr>
          <a:xfrm>
            <a:off x="859150" y="3234725"/>
            <a:ext cx="369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6E7B85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1295486" y="3234725"/>
            <a:ext cx="7404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900"/>
              <a:buFont typeface="Calibri"/>
              <a:buNone/>
            </a:pPr>
            <a:r>
              <a:rPr b="0" i="0" lang="en" sz="1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Can you show me a trace of a real request?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 txBox="1"/>
          <p:nvPr/>
        </p:nvSpPr>
        <p:spPr>
          <a:xfrm>
            <a:off x="859150" y="3720178"/>
            <a:ext cx="369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6E7B85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 txBox="1"/>
          <p:nvPr/>
        </p:nvSpPr>
        <p:spPr>
          <a:xfrm>
            <a:off x="1295486" y="3720178"/>
            <a:ext cx="7404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900"/>
              <a:buFont typeface="Calibri"/>
              <a:buNone/>
            </a:pPr>
            <a:r>
              <a:rPr b="0" i="0" lang="en" sz="1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What does this cost per transaction, and what is the ceiling?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 txBox="1"/>
          <p:nvPr/>
        </p:nvSpPr>
        <p:spPr>
          <a:xfrm>
            <a:off x="859150" y="4205630"/>
            <a:ext cx="369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6E7B85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 txBox="1"/>
          <p:nvPr/>
        </p:nvSpPr>
        <p:spPr>
          <a:xfrm>
            <a:off x="1295486" y="4205630"/>
            <a:ext cx="7404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900"/>
              <a:buFont typeface="Calibri"/>
              <a:buNone/>
            </a:pPr>
            <a:r>
              <a:rPr b="0" i="0" lang="en" sz="1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Which parts of this code were AI-authored, and were they reviewed to the same standard?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a86d56d66_0_868"/>
          <p:cNvSpPr txBox="1"/>
          <p:nvPr>
            <p:ph type="title"/>
          </p:nvPr>
        </p:nvSpPr>
        <p:spPr>
          <a:xfrm>
            <a:off x="549825" y="343675"/>
            <a:ext cx="723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Conclusion</a:t>
            </a:r>
            <a:endParaRPr sz="2600"/>
          </a:p>
        </p:txBody>
      </p:sp>
      <p:sp>
        <p:nvSpPr>
          <p:cNvPr id="444" name="Google Shape;444;g3fa86d56d66_0_868"/>
          <p:cNvSpPr txBox="1"/>
          <p:nvPr/>
        </p:nvSpPr>
        <p:spPr>
          <a:xfrm>
            <a:off x="876300" y="937889"/>
            <a:ext cx="74298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95"/>
              <a:buFont typeface="Cambria"/>
              <a:buNone/>
            </a:pPr>
            <a:r>
              <a:rPr b="1" i="0" lang="en" sz="2100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Where this leaves us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fa86d56d66_0_868"/>
          <p:cNvSpPr txBox="1"/>
          <p:nvPr/>
        </p:nvSpPr>
        <p:spPr>
          <a:xfrm>
            <a:off x="876300" y="1414475"/>
            <a:ext cx="39474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169"/>
              <a:buFont typeface="Calibri"/>
              <a:buNone/>
            </a:pPr>
            <a:r>
              <a:rPr b="1" i="0" lang="en" sz="1169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Key learnings</a:t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fa86d56d66_0_868"/>
          <p:cNvSpPr/>
          <p:nvPr/>
        </p:nvSpPr>
        <p:spPr>
          <a:xfrm>
            <a:off x="876300" y="1681062"/>
            <a:ext cx="3947400" cy="812400"/>
          </a:xfrm>
          <a:prstGeom prst="roundRect">
            <a:avLst>
              <a:gd fmla="val 6250" name="adj"/>
            </a:avLst>
          </a:prstGeom>
          <a:solidFill>
            <a:srgbClr val="F2F2F2"/>
          </a:solidFill>
          <a:ln cap="flat" cmpd="sng" w="99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75" lIns="71275" spcFirstLastPara="1" rIns="71275" wrap="square" tIns="71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fa86d56d66_0_868"/>
          <p:cNvSpPr/>
          <p:nvPr/>
        </p:nvSpPr>
        <p:spPr>
          <a:xfrm>
            <a:off x="1050252" y="1808008"/>
            <a:ext cx="267600" cy="253800"/>
          </a:xfrm>
          <a:prstGeom prst="ellipse">
            <a:avLst/>
          </a:prstGeom>
          <a:solidFill>
            <a:srgbClr val="36454F"/>
          </a:solidFill>
          <a:ln cap="flat" cmpd="sng" w="9900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75" lIns="71275" spcFirstLastPara="1" rIns="71275" wrap="square" tIns="71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fa86d56d66_0_868"/>
          <p:cNvSpPr txBox="1"/>
          <p:nvPr/>
        </p:nvSpPr>
        <p:spPr>
          <a:xfrm>
            <a:off x="1050252" y="1808008"/>
            <a:ext cx="267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5"/>
              <a:buFont typeface="Calibri"/>
              <a:buNone/>
            </a:pPr>
            <a:r>
              <a:rPr b="1" i="0" lang="en" sz="93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3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fa86d56d66_0_868"/>
          <p:cNvSpPr txBox="1"/>
          <p:nvPr/>
        </p:nvSpPr>
        <p:spPr>
          <a:xfrm>
            <a:off x="1424917" y="1769924"/>
            <a:ext cx="32451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91"/>
              <a:buFont typeface="Calibri"/>
              <a:buNone/>
            </a:pPr>
            <a:r>
              <a:rPr b="0" i="0" lang="en" sz="1091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Variance is managed, not eliminated — so acceptance criteria need numbers, agreed before build</a:t>
            </a:r>
            <a:endParaRPr b="0" i="0" sz="109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fa86d56d66_0_868"/>
          <p:cNvSpPr/>
          <p:nvPr/>
        </p:nvSpPr>
        <p:spPr>
          <a:xfrm>
            <a:off x="876300" y="2569686"/>
            <a:ext cx="3947400" cy="812400"/>
          </a:xfrm>
          <a:prstGeom prst="roundRect">
            <a:avLst>
              <a:gd fmla="val 6250" name="adj"/>
            </a:avLst>
          </a:prstGeom>
          <a:solidFill>
            <a:srgbClr val="F2F2F2"/>
          </a:solidFill>
          <a:ln cap="flat" cmpd="sng" w="99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75" lIns="71275" spcFirstLastPara="1" rIns="71275" wrap="square" tIns="71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fa86d56d66_0_868"/>
          <p:cNvSpPr/>
          <p:nvPr/>
        </p:nvSpPr>
        <p:spPr>
          <a:xfrm>
            <a:off x="1050252" y="2696632"/>
            <a:ext cx="267600" cy="253800"/>
          </a:xfrm>
          <a:prstGeom prst="ellipse">
            <a:avLst/>
          </a:prstGeom>
          <a:solidFill>
            <a:srgbClr val="36454F"/>
          </a:solidFill>
          <a:ln cap="flat" cmpd="sng" w="9900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75" lIns="71275" spcFirstLastPara="1" rIns="71275" wrap="square" tIns="71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fa86d56d66_0_868"/>
          <p:cNvSpPr txBox="1"/>
          <p:nvPr/>
        </p:nvSpPr>
        <p:spPr>
          <a:xfrm>
            <a:off x="1050252" y="2696632"/>
            <a:ext cx="267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5"/>
              <a:buFont typeface="Calibri"/>
              <a:buNone/>
            </a:pPr>
            <a:r>
              <a:rPr b="1" i="0" lang="en" sz="93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3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fa86d56d66_0_868"/>
          <p:cNvSpPr txBox="1"/>
          <p:nvPr/>
        </p:nvSpPr>
        <p:spPr>
          <a:xfrm>
            <a:off x="1424917" y="2658548"/>
            <a:ext cx="32451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91"/>
              <a:buFont typeface="Calibri"/>
              <a:buNone/>
            </a:pPr>
            <a:r>
              <a:rPr b="0" i="0" lang="en" sz="1091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The harness, the evals and the traces are the deliverables that make an AI feature signable</a:t>
            </a:r>
            <a:endParaRPr b="0" i="0" sz="109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fa86d56d66_0_868"/>
          <p:cNvSpPr/>
          <p:nvPr/>
        </p:nvSpPr>
        <p:spPr>
          <a:xfrm>
            <a:off x="876300" y="3458309"/>
            <a:ext cx="3947400" cy="812400"/>
          </a:xfrm>
          <a:prstGeom prst="roundRect">
            <a:avLst>
              <a:gd fmla="val 6250" name="adj"/>
            </a:avLst>
          </a:prstGeom>
          <a:solidFill>
            <a:srgbClr val="F2F2F2"/>
          </a:solidFill>
          <a:ln cap="flat" cmpd="sng" w="99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75" lIns="71275" spcFirstLastPara="1" rIns="71275" wrap="square" tIns="71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fa86d56d66_0_868"/>
          <p:cNvSpPr/>
          <p:nvPr/>
        </p:nvSpPr>
        <p:spPr>
          <a:xfrm>
            <a:off x="1050252" y="3585255"/>
            <a:ext cx="267600" cy="253800"/>
          </a:xfrm>
          <a:prstGeom prst="ellipse">
            <a:avLst/>
          </a:prstGeom>
          <a:solidFill>
            <a:srgbClr val="36454F"/>
          </a:solidFill>
          <a:ln cap="flat" cmpd="sng" w="9900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75" lIns="71275" spcFirstLastPara="1" rIns="71275" wrap="square" tIns="71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fa86d56d66_0_868"/>
          <p:cNvSpPr txBox="1"/>
          <p:nvPr/>
        </p:nvSpPr>
        <p:spPr>
          <a:xfrm>
            <a:off x="1050252" y="3585255"/>
            <a:ext cx="267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5"/>
              <a:buFont typeface="Calibri"/>
              <a:buNone/>
            </a:pPr>
            <a:r>
              <a:rPr b="1" i="0" lang="en" sz="93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3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fa86d56d66_0_868"/>
          <p:cNvSpPr txBox="1"/>
          <p:nvPr/>
        </p:nvSpPr>
        <p:spPr>
          <a:xfrm>
            <a:off x="1424917" y="3547171"/>
            <a:ext cx="32451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91"/>
              <a:buFont typeface="Calibri"/>
              <a:buNone/>
            </a:pPr>
            <a:r>
              <a:rPr b="0" i="0" lang="en" sz="1091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Reliability lands in monthly run cost, not the project budget</a:t>
            </a:r>
            <a:endParaRPr b="0" i="0" sz="109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fa86d56d66_0_868"/>
          <p:cNvSpPr txBox="1"/>
          <p:nvPr/>
        </p:nvSpPr>
        <p:spPr>
          <a:xfrm>
            <a:off x="4924021" y="1414475"/>
            <a:ext cx="39342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B85"/>
              </a:buClr>
              <a:buSzPts val="1169"/>
              <a:buFont typeface="Calibri"/>
              <a:buNone/>
            </a:pPr>
            <a:r>
              <a:rPr b="1" i="0" lang="en" sz="1169" u="none" cap="none" strike="noStrike">
                <a:solidFill>
                  <a:srgbClr val="6E7B85"/>
                </a:solidFill>
                <a:latin typeface="Calibri"/>
                <a:ea typeface="Calibri"/>
                <a:cs typeface="Calibri"/>
                <a:sym typeface="Calibri"/>
              </a:rPr>
              <a:t>Action items — for you</a:t>
            </a:r>
            <a:endParaRPr b="1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fa86d56d66_0_868"/>
          <p:cNvSpPr/>
          <p:nvPr/>
        </p:nvSpPr>
        <p:spPr>
          <a:xfrm>
            <a:off x="4924021" y="1681062"/>
            <a:ext cx="3934200" cy="812400"/>
          </a:xfrm>
          <a:prstGeom prst="roundRect">
            <a:avLst>
              <a:gd fmla="val 6250" name="adj"/>
            </a:avLst>
          </a:prstGeom>
          <a:solidFill>
            <a:srgbClr val="E8EAEC"/>
          </a:solidFill>
          <a:ln cap="flat" cmpd="sng" w="99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75" lIns="71275" spcFirstLastPara="1" rIns="71275" wrap="square" tIns="71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fa86d56d66_0_868"/>
          <p:cNvSpPr txBox="1"/>
          <p:nvPr/>
        </p:nvSpPr>
        <p:spPr>
          <a:xfrm>
            <a:off x="5124734" y="1782619"/>
            <a:ext cx="3546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69"/>
              <a:buFont typeface="Calibri"/>
              <a:buNone/>
            </a:pPr>
            <a:r>
              <a:rPr b="1" i="0" lang="en" sz="116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Add a trace ID field</a:t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fa86d56d66_0_868"/>
          <p:cNvSpPr txBox="1"/>
          <p:nvPr/>
        </p:nvSpPr>
        <p:spPr>
          <a:xfrm>
            <a:off x="5124734" y="2023817"/>
            <a:ext cx="3546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13"/>
              <a:buFont typeface="Calibri"/>
              <a:buNone/>
            </a:pPr>
            <a:r>
              <a:rPr b="0" i="0" lang="en" sz="101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to the bug template for any AI-enabled feature — free, and makes issues reproducible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fa86d56d66_0_868"/>
          <p:cNvSpPr/>
          <p:nvPr/>
        </p:nvSpPr>
        <p:spPr>
          <a:xfrm>
            <a:off x="4924021" y="2569686"/>
            <a:ext cx="3934200" cy="812400"/>
          </a:xfrm>
          <a:prstGeom prst="roundRect">
            <a:avLst>
              <a:gd fmla="val 6250" name="adj"/>
            </a:avLst>
          </a:prstGeom>
          <a:solidFill>
            <a:srgbClr val="E8EAEC"/>
          </a:solidFill>
          <a:ln cap="flat" cmpd="sng" w="99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75" lIns="71275" spcFirstLastPara="1" rIns="71275" wrap="square" tIns="71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fa86d56d66_0_868"/>
          <p:cNvSpPr txBox="1"/>
          <p:nvPr/>
        </p:nvSpPr>
        <p:spPr>
          <a:xfrm>
            <a:off x="5124734" y="2671242"/>
            <a:ext cx="3546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69"/>
              <a:buFont typeface="Calibri"/>
              <a:buNone/>
            </a:pPr>
            <a:r>
              <a:rPr b="1" i="0" lang="en" sz="116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Require an eval set</a:t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fa86d56d66_0_868"/>
          <p:cNvSpPr txBox="1"/>
          <p:nvPr/>
        </p:nvSpPr>
        <p:spPr>
          <a:xfrm>
            <a:off x="5124734" y="2912440"/>
            <a:ext cx="3546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13"/>
              <a:buFont typeface="Calibri"/>
              <a:buNone/>
            </a:pPr>
            <a:r>
              <a:rPr b="0" i="0" lang="en" sz="101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named, with its case count, in every AI feature estimate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fa86d56d66_0_868"/>
          <p:cNvSpPr/>
          <p:nvPr/>
        </p:nvSpPr>
        <p:spPr>
          <a:xfrm>
            <a:off x="4924021" y="3458309"/>
            <a:ext cx="3934200" cy="812400"/>
          </a:xfrm>
          <a:prstGeom prst="roundRect">
            <a:avLst>
              <a:gd fmla="val 6250" name="adj"/>
            </a:avLst>
          </a:prstGeom>
          <a:solidFill>
            <a:srgbClr val="E8EAEC"/>
          </a:solidFill>
          <a:ln cap="flat" cmpd="sng" w="9900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75" lIns="71275" spcFirstLastPara="1" rIns="71275" wrap="square" tIns="71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fa86d56d66_0_868"/>
          <p:cNvSpPr txBox="1"/>
          <p:nvPr/>
        </p:nvSpPr>
        <p:spPr>
          <a:xfrm>
            <a:off x="5124734" y="3559866"/>
            <a:ext cx="3546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69"/>
              <a:buFont typeface="Calibri"/>
              <a:buNone/>
            </a:pPr>
            <a:r>
              <a:rPr b="1" i="0" lang="en" sz="116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Set a cost ceiling per feature</a:t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fa86d56d66_0_868"/>
          <p:cNvSpPr txBox="1"/>
          <p:nvPr/>
        </p:nvSpPr>
        <p:spPr>
          <a:xfrm>
            <a:off x="5124734" y="3801064"/>
            <a:ext cx="3546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13"/>
              <a:buFont typeface="Calibri"/>
              <a:buNone/>
            </a:pPr>
            <a:r>
              <a:rPr b="0" i="0" lang="en" sz="101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at design time, and treat breaching it as a design defect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fa86d56d66_0_868"/>
          <p:cNvSpPr txBox="1"/>
          <p:nvPr/>
        </p:nvSpPr>
        <p:spPr>
          <a:xfrm>
            <a:off x="876300" y="4461184"/>
            <a:ext cx="7982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69"/>
              <a:buFont typeface="Calibri"/>
              <a:buNone/>
            </a:pPr>
            <a:r>
              <a:rPr b="1" i="0" lang="en" sz="1169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None of these need budget. All three are process changes you already control.</a:t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a86d56d66_0_903"/>
          <p:cNvSpPr txBox="1"/>
          <p:nvPr>
            <p:ph type="title"/>
          </p:nvPr>
        </p:nvSpPr>
        <p:spPr>
          <a:xfrm>
            <a:off x="549825" y="343675"/>
            <a:ext cx="723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Precautions</a:t>
            </a:r>
            <a:endParaRPr sz="2600"/>
          </a:p>
        </p:txBody>
      </p:sp>
      <p:sp>
        <p:nvSpPr>
          <p:cNvPr id="474" name="Google Shape;474;g3fa86d56d66_0_903"/>
          <p:cNvSpPr txBox="1"/>
          <p:nvPr/>
        </p:nvSpPr>
        <p:spPr>
          <a:xfrm>
            <a:off x="792475" y="994231"/>
            <a:ext cx="77109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53"/>
              <a:buFont typeface="Cambria"/>
              <a:buNone/>
            </a:pPr>
            <a:r>
              <a:rPr b="1" i="0" lang="en" sz="2100" u="none" cap="none" strike="noStrik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Things to watch for: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fa86d56d66_0_903"/>
          <p:cNvSpPr/>
          <p:nvPr/>
        </p:nvSpPr>
        <p:spPr>
          <a:xfrm>
            <a:off x="909250" y="1540950"/>
            <a:ext cx="3813300" cy="863700"/>
          </a:xfrm>
          <a:prstGeom prst="roundRect">
            <a:avLst>
              <a:gd fmla="val 5405" name="adj"/>
            </a:avLst>
          </a:prstGeom>
          <a:solidFill>
            <a:srgbClr val="F2F2F2"/>
          </a:solidFill>
          <a:ln cap="flat" cmpd="sng" w="972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75" lIns="70075" spcFirstLastPara="1" rIns="70075" wrap="square" tIns="7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fa86d56d66_0_903"/>
          <p:cNvSpPr/>
          <p:nvPr/>
        </p:nvSpPr>
        <p:spPr>
          <a:xfrm>
            <a:off x="1090226" y="1681013"/>
            <a:ext cx="194100" cy="175200"/>
          </a:xfrm>
          <a:prstGeom prst="roundRect">
            <a:avLst>
              <a:gd fmla="val 16667" name="adj"/>
            </a:avLst>
          </a:prstGeom>
          <a:solidFill>
            <a:srgbClr val="B03A2E"/>
          </a:solidFill>
          <a:ln cap="flat" cmpd="sng" w="9725">
            <a:solidFill>
              <a:srgbClr val="B0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75" lIns="70075" spcFirstLastPara="1" rIns="70075" wrap="square" tIns="7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3fa86d56d66_0_903"/>
          <p:cNvSpPr txBox="1"/>
          <p:nvPr/>
        </p:nvSpPr>
        <p:spPr>
          <a:xfrm>
            <a:off x="1090226" y="1681013"/>
            <a:ext cx="1941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7"/>
              <a:buFont typeface="Calibri"/>
              <a:buNone/>
            </a:pPr>
            <a:r>
              <a:rPr b="1" i="0" lang="en" sz="99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99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fa86d56d66_0_903"/>
          <p:cNvSpPr txBox="1"/>
          <p:nvPr/>
        </p:nvSpPr>
        <p:spPr>
          <a:xfrm>
            <a:off x="1374617" y="1657669"/>
            <a:ext cx="31995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 demo is not a tested feature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fa86d56d66_0_903"/>
          <p:cNvSpPr txBox="1"/>
          <p:nvPr/>
        </p:nvSpPr>
        <p:spPr>
          <a:xfrm>
            <a:off x="1374617" y="1902780"/>
            <a:ext cx="3199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58"/>
              <a:buFont typeface="Calibri"/>
              <a:buNone/>
            </a:pPr>
            <a:r>
              <a:rPr b="0" i="0" lang="en" sz="958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It worked once, in front of you. That is one sample. Ask what the eval set says before treating it as ready.</a:t>
            </a:r>
            <a:endParaRPr b="0" i="0" sz="9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fa86d56d66_0_903"/>
          <p:cNvSpPr/>
          <p:nvPr/>
        </p:nvSpPr>
        <p:spPr>
          <a:xfrm>
            <a:off x="4819624" y="1540950"/>
            <a:ext cx="3800400" cy="863700"/>
          </a:xfrm>
          <a:prstGeom prst="roundRect">
            <a:avLst>
              <a:gd fmla="val 5405" name="adj"/>
            </a:avLst>
          </a:prstGeom>
          <a:solidFill>
            <a:srgbClr val="F2F2F2"/>
          </a:solidFill>
          <a:ln cap="flat" cmpd="sng" w="972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75" lIns="70075" spcFirstLastPara="1" rIns="70075" wrap="square" tIns="7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fa86d56d66_0_903"/>
          <p:cNvSpPr/>
          <p:nvPr/>
        </p:nvSpPr>
        <p:spPr>
          <a:xfrm>
            <a:off x="5000600" y="1681013"/>
            <a:ext cx="194100" cy="175200"/>
          </a:xfrm>
          <a:prstGeom prst="roundRect">
            <a:avLst>
              <a:gd fmla="val 16667" name="adj"/>
            </a:avLst>
          </a:prstGeom>
          <a:solidFill>
            <a:srgbClr val="B03A2E"/>
          </a:solidFill>
          <a:ln cap="flat" cmpd="sng" w="9725">
            <a:solidFill>
              <a:srgbClr val="B0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75" lIns="70075" spcFirstLastPara="1" rIns="70075" wrap="square" tIns="7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fa86d56d66_0_903"/>
          <p:cNvSpPr txBox="1"/>
          <p:nvPr/>
        </p:nvSpPr>
        <p:spPr>
          <a:xfrm>
            <a:off x="5000600" y="1681013"/>
            <a:ext cx="1941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7"/>
              <a:buFont typeface="Calibri"/>
              <a:buNone/>
            </a:pPr>
            <a:r>
              <a:rPr b="1" i="0" lang="en" sz="99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99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fa86d56d66_0_903"/>
          <p:cNvSpPr txBox="1"/>
          <p:nvPr/>
        </p:nvSpPr>
        <p:spPr>
          <a:xfrm>
            <a:off x="5284991" y="1657669"/>
            <a:ext cx="31995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“We improved the prompt”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fa86d56d66_0_903"/>
          <p:cNvSpPr txBox="1"/>
          <p:nvPr/>
        </p:nvSpPr>
        <p:spPr>
          <a:xfrm>
            <a:off x="5284991" y="1902780"/>
            <a:ext cx="3199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58"/>
              <a:buFont typeface="Calibri"/>
              <a:buNone/>
            </a:pPr>
            <a:r>
              <a:rPr b="0" i="0" lang="en" sz="958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Without eval evidence, nobody knows whether it improved. Treat it as an unverified change, not a fix.</a:t>
            </a:r>
            <a:endParaRPr b="0" i="0" sz="9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fa86d56d66_0_903"/>
          <p:cNvSpPr/>
          <p:nvPr/>
        </p:nvSpPr>
        <p:spPr>
          <a:xfrm>
            <a:off x="909250" y="2486377"/>
            <a:ext cx="3813300" cy="863700"/>
          </a:xfrm>
          <a:prstGeom prst="roundRect">
            <a:avLst>
              <a:gd fmla="val 5405" name="adj"/>
            </a:avLst>
          </a:prstGeom>
          <a:solidFill>
            <a:srgbClr val="F2F2F2"/>
          </a:solidFill>
          <a:ln cap="flat" cmpd="sng" w="972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75" lIns="70075" spcFirstLastPara="1" rIns="70075" wrap="square" tIns="7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fa86d56d66_0_903"/>
          <p:cNvSpPr/>
          <p:nvPr/>
        </p:nvSpPr>
        <p:spPr>
          <a:xfrm>
            <a:off x="1090226" y="2626440"/>
            <a:ext cx="194100" cy="175200"/>
          </a:xfrm>
          <a:prstGeom prst="roundRect">
            <a:avLst>
              <a:gd fmla="val 16667" name="adj"/>
            </a:avLst>
          </a:prstGeom>
          <a:solidFill>
            <a:srgbClr val="B03A2E"/>
          </a:solidFill>
          <a:ln cap="flat" cmpd="sng" w="9725">
            <a:solidFill>
              <a:srgbClr val="B0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75" lIns="70075" spcFirstLastPara="1" rIns="70075" wrap="square" tIns="7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fa86d56d66_0_903"/>
          <p:cNvSpPr txBox="1"/>
          <p:nvPr/>
        </p:nvSpPr>
        <p:spPr>
          <a:xfrm>
            <a:off x="1090226" y="2626440"/>
            <a:ext cx="1941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7"/>
              <a:buFont typeface="Calibri"/>
              <a:buNone/>
            </a:pPr>
            <a:r>
              <a:rPr b="1" i="0" lang="en" sz="99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99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fa86d56d66_0_903"/>
          <p:cNvSpPr txBox="1"/>
          <p:nvPr/>
        </p:nvSpPr>
        <p:spPr>
          <a:xfrm>
            <a:off x="1374617" y="2603096"/>
            <a:ext cx="31995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100% consistency as a requirement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a86d56d66_0_903"/>
          <p:cNvSpPr txBox="1"/>
          <p:nvPr/>
        </p:nvSpPr>
        <p:spPr>
          <a:xfrm>
            <a:off x="1374617" y="2848207"/>
            <a:ext cx="3199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58"/>
              <a:buFont typeface="Calibri"/>
              <a:buNone/>
            </a:pPr>
            <a:r>
              <a:rPr b="0" i="0" lang="en" sz="958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Cannot be met at any budget. Renegotiate it at requirements stage, not at UAT.</a:t>
            </a:r>
            <a:endParaRPr b="0" i="0" sz="9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a86d56d66_0_903"/>
          <p:cNvSpPr/>
          <p:nvPr/>
        </p:nvSpPr>
        <p:spPr>
          <a:xfrm>
            <a:off x="4819624" y="2486377"/>
            <a:ext cx="3800400" cy="863700"/>
          </a:xfrm>
          <a:prstGeom prst="roundRect">
            <a:avLst>
              <a:gd fmla="val 5405" name="adj"/>
            </a:avLst>
          </a:prstGeom>
          <a:solidFill>
            <a:srgbClr val="F2F2F2"/>
          </a:solidFill>
          <a:ln cap="flat" cmpd="sng" w="972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75" lIns="70075" spcFirstLastPara="1" rIns="70075" wrap="square" tIns="7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fa86d56d66_0_903"/>
          <p:cNvSpPr/>
          <p:nvPr/>
        </p:nvSpPr>
        <p:spPr>
          <a:xfrm>
            <a:off x="5000600" y="2626440"/>
            <a:ext cx="194100" cy="175200"/>
          </a:xfrm>
          <a:prstGeom prst="roundRect">
            <a:avLst>
              <a:gd fmla="val 16667" name="adj"/>
            </a:avLst>
          </a:prstGeom>
          <a:solidFill>
            <a:srgbClr val="B03A2E"/>
          </a:solidFill>
          <a:ln cap="flat" cmpd="sng" w="9725">
            <a:solidFill>
              <a:srgbClr val="B0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75" lIns="70075" spcFirstLastPara="1" rIns="70075" wrap="square" tIns="7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fa86d56d66_0_903"/>
          <p:cNvSpPr txBox="1"/>
          <p:nvPr/>
        </p:nvSpPr>
        <p:spPr>
          <a:xfrm>
            <a:off x="5000600" y="2626440"/>
            <a:ext cx="1941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7"/>
              <a:buFont typeface="Calibri"/>
              <a:buNone/>
            </a:pPr>
            <a:r>
              <a:rPr b="1" i="0" lang="en" sz="99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99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fa86d56d66_0_903"/>
          <p:cNvSpPr txBox="1"/>
          <p:nvPr/>
        </p:nvSpPr>
        <p:spPr>
          <a:xfrm>
            <a:off x="5284991" y="2603096"/>
            <a:ext cx="31995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What data goes into the prompt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fa86d56d66_0_903"/>
          <p:cNvSpPr txBox="1"/>
          <p:nvPr/>
        </p:nvSpPr>
        <p:spPr>
          <a:xfrm>
            <a:off x="5284991" y="2848207"/>
            <a:ext cx="3199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58"/>
              <a:buFont typeface="Calibri"/>
              <a:buNone/>
            </a:pPr>
            <a:r>
              <a:rPr b="0" i="0" lang="en" sz="958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Prompts and retrieval indexes are data flows. Ask what customer data leaves our boundary, and to which provider.</a:t>
            </a:r>
            <a:endParaRPr b="0" i="0" sz="9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fa86d56d66_0_903"/>
          <p:cNvSpPr/>
          <p:nvPr/>
        </p:nvSpPr>
        <p:spPr>
          <a:xfrm>
            <a:off x="909250" y="3431804"/>
            <a:ext cx="3813300" cy="863700"/>
          </a:xfrm>
          <a:prstGeom prst="roundRect">
            <a:avLst>
              <a:gd fmla="val 5405" name="adj"/>
            </a:avLst>
          </a:prstGeom>
          <a:solidFill>
            <a:srgbClr val="F2F2F2"/>
          </a:solidFill>
          <a:ln cap="flat" cmpd="sng" w="972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75" lIns="70075" spcFirstLastPara="1" rIns="70075" wrap="square" tIns="7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3fa86d56d66_0_903"/>
          <p:cNvSpPr/>
          <p:nvPr/>
        </p:nvSpPr>
        <p:spPr>
          <a:xfrm>
            <a:off x="1090226" y="3571867"/>
            <a:ext cx="194100" cy="175200"/>
          </a:xfrm>
          <a:prstGeom prst="roundRect">
            <a:avLst>
              <a:gd fmla="val 16667" name="adj"/>
            </a:avLst>
          </a:prstGeom>
          <a:solidFill>
            <a:srgbClr val="B03A2E"/>
          </a:solidFill>
          <a:ln cap="flat" cmpd="sng" w="9725">
            <a:solidFill>
              <a:srgbClr val="B0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75" lIns="70075" spcFirstLastPara="1" rIns="70075" wrap="square" tIns="7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3fa86d56d66_0_903"/>
          <p:cNvSpPr txBox="1"/>
          <p:nvPr/>
        </p:nvSpPr>
        <p:spPr>
          <a:xfrm>
            <a:off x="1090226" y="3571867"/>
            <a:ext cx="1941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7"/>
              <a:buFont typeface="Calibri"/>
              <a:buNone/>
            </a:pPr>
            <a:r>
              <a:rPr b="1" i="0" lang="en" sz="99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99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fa86d56d66_0_903"/>
          <p:cNvSpPr txBox="1"/>
          <p:nvPr/>
        </p:nvSpPr>
        <p:spPr>
          <a:xfrm>
            <a:off x="1374617" y="3548524"/>
            <a:ext cx="31995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Clean-looking generated code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fa86d56d66_0_903"/>
          <p:cNvSpPr txBox="1"/>
          <p:nvPr/>
        </p:nvSpPr>
        <p:spPr>
          <a:xfrm>
            <a:off x="1374617" y="3793634"/>
            <a:ext cx="3199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58"/>
              <a:buFont typeface="Calibri"/>
              <a:buNone/>
            </a:pPr>
            <a:r>
              <a:rPr b="0" i="0" lang="en" sz="958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AI-authored code reads well and reviews easily. That is the risk, not the reassurance.</a:t>
            </a:r>
            <a:endParaRPr b="0" i="0" sz="9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fa86d56d66_0_903"/>
          <p:cNvSpPr/>
          <p:nvPr/>
        </p:nvSpPr>
        <p:spPr>
          <a:xfrm>
            <a:off x="4819624" y="3431804"/>
            <a:ext cx="3800400" cy="863700"/>
          </a:xfrm>
          <a:prstGeom prst="roundRect">
            <a:avLst>
              <a:gd fmla="val 5405" name="adj"/>
            </a:avLst>
          </a:prstGeom>
          <a:solidFill>
            <a:srgbClr val="F2F2F2"/>
          </a:solidFill>
          <a:ln cap="flat" cmpd="sng" w="972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75" lIns="70075" spcFirstLastPara="1" rIns="70075" wrap="square" tIns="7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fa86d56d66_0_903"/>
          <p:cNvSpPr/>
          <p:nvPr/>
        </p:nvSpPr>
        <p:spPr>
          <a:xfrm>
            <a:off x="5000600" y="3571867"/>
            <a:ext cx="194100" cy="175200"/>
          </a:xfrm>
          <a:prstGeom prst="roundRect">
            <a:avLst>
              <a:gd fmla="val 16667" name="adj"/>
            </a:avLst>
          </a:prstGeom>
          <a:solidFill>
            <a:srgbClr val="B03A2E"/>
          </a:solidFill>
          <a:ln cap="flat" cmpd="sng" w="9725">
            <a:solidFill>
              <a:srgbClr val="B0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75" lIns="70075" spcFirstLastPara="1" rIns="70075" wrap="square" tIns="7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fa86d56d66_0_903"/>
          <p:cNvSpPr txBox="1"/>
          <p:nvPr/>
        </p:nvSpPr>
        <p:spPr>
          <a:xfrm>
            <a:off x="5000600" y="3571867"/>
            <a:ext cx="1941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7"/>
              <a:buFont typeface="Calibri"/>
              <a:buNone/>
            </a:pPr>
            <a:r>
              <a:rPr b="1" i="0" lang="en" sz="99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99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fa86d56d66_0_903"/>
          <p:cNvSpPr txBox="1"/>
          <p:nvPr/>
        </p:nvSpPr>
        <p:spPr>
          <a:xfrm>
            <a:off x="5284991" y="3548524"/>
            <a:ext cx="31995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Run cost after go-live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fa86d56d66_0_903"/>
          <p:cNvSpPr txBox="1"/>
          <p:nvPr/>
        </p:nvSpPr>
        <p:spPr>
          <a:xfrm>
            <a:off x="5284991" y="3793634"/>
            <a:ext cx="3199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58"/>
              <a:buFont typeface="Calibri"/>
              <a:buNone/>
            </a:pPr>
            <a:r>
              <a:rPr b="0" i="0" lang="en" sz="958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Reliability measures compound monthly. A feature can pass sign-off and still become a cost problem.</a:t>
            </a:r>
            <a:endParaRPr b="0" i="0" sz="9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fa86d56d66_0_903"/>
          <p:cNvSpPr/>
          <p:nvPr/>
        </p:nvSpPr>
        <p:spPr>
          <a:xfrm>
            <a:off x="909250" y="4400575"/>
            <a:ext cx="7710900" cy="361800"/>
          </a:xfrm>
          <a:prstGeom prst="roundRect">
            <a:avLst>
              <a:gd fmla="val 12903" name="adj"/>
            </a:avLst>
          </a:prstGeom>
          <a:solidFill>
            <a:srgbClr val="E8EAEC"/>
          </a:solidFill>
          <a:ln cap="flat" cmpd="sng" w="9725">
            <a:solidFill>
              <a:srgbClr val="CFD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75" lIns="70075" spcFirstLastPara="1" rIns="70075" wrap="square" tIns="7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g3fa86d56d66_0_903"/>
          <p:cNvSpPr txBox="1"/>
          <p:nvPr/>
        </p:nvSpPr>
        <p:spPr>
          <a:xfrm>
            <a:off x="1135470" y="4400575"/>
            <a:ext cx="7258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12"/>
              <a:buFont typeface="Calibri"/>
              <a:buNone/>
            </a:pPr>
            <a:r>
              <a:rPr b="1" i="0" lang="en" sz="1112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Each of these has cost somebody a release. None of them look like risks at the time.</a:t>
            </a:r>
            <a:endParaRPr b="0" i="0" sz="111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fa86d56d66_0_907"/>
          <p:cNvSpPr txBox="1"/>
          <p:nvPr>
            <p:ph type="title"/>
          </p:nvPr>
        </p:nvSpPr>
        <p:spPr>
          <a:xfrm>
            <a:off x="549825" y="343675"/>
            <a:ext cx="723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Remember</a:t>
            </a:r>
            <a:endParaRPr sz="2600"/>
          </a:p>
        </p:txBody>
      </p:sp>
      <p:sp>
        <p:nvSpPr>
          <p:cNvPr id="512" name="Google Shape;512;g3fa86d56d66_0_907"/>
          <p:cNvSpPr txBox="1"/>
          <p:nvPr/>
        </p:nvSpPr>
        <p:spPr>
          <a:xfrm>
            <a:off x="659125" y="1085850"/>
            <a:ext cx="80754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69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769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AI output varies by design. We manage the variance — we don’t eliminate it.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marR="0" rtl="0" algn="l">
              <a:lnSpc>
                <a:spcPct val="1769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harness, the evals and the traces are what turn a model into a product we can sign off.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marR="0" rtl="0" algn="l">
              <a:lnSpc>
                <a:spcPct val="1769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Every one of those is a delivery line item — which makes it yours.</a:t>
            </a:r>
            <a:br>
              <a:rPr b="0" i="0" lang="e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6923"/>
              </a:lnSpc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2332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g3fa86d56d66_0_971"/>
          <p:cNvPicPr preferRelativeResize="0"/>
          <p:nvPr/>
        </p:nvPicPr>
        <p:blipFill rotWithShape="1">
          <a:blip r:embed="rId3">
            <a:alphaModFix amt="92000"/>
          </a:blip>
          <a:srcRect b="9392" l="12773" r="12750" t="16132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g3fa86d56d66_0_971"/>
          <p:cNvSpPr/>
          <p:nvPr/>
        </p:nvSpPr>
        <p:spPr>
          <a:xfrm>
            <a:off x="0" y="-14737"/>
            <a:ext cx="7944000" cy="5172900"/>
          </a:xfrm>
          <a:prstGeom prst="rect">
            <a:avLst/>
          </a:prstGeom>
          <a:gradFill>
            <a:gsLst>
              <a:gs pos="0">
                <a:srgbClr val="0C2332"/>
              </a:gs>
              <a:gs pos="100000">
                <a:srgbClr val="0A212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3fa86d56d66_0_971"/>
          <p:cNvSpPr/>
          <p:nvPr/>
        </p:nvSpPr>
        <p:spPr>
          <a:xfrm rot="5400000">
            <a:off x="4100535" y="5719113"/>
            <a:ext cx="217200" cy="120000"/>
          </a:xfrm>
          <a:prstGeom prst="triangle">
            <a:avLst>
              <a:gd fmla="val 5034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g3fa86d56d66_0_971"/>
          <p:cNvSpPr/>
          <p:nvPr/>
        </p:nvSpPr>
        <p:spPr>
          <a:xfrm rot="5400000">
            <a:off x="4093428" y="5719113"/>
            <a:ext cx="217200" cy="120000"/>
          </a:xfrm>
          <a:prstGeom prst="triangle">
            <a:avLst>
              <a:gd fmla="val 5034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3fa86d56d66_0_971"/>
          <p:cNvSpPr/>
          <p:nvPr/>
        </p:nvSpPr>
        <p:spPr>
          <a:xfrm rot="5400000">
            <a:off x="1437088" y="5732663"/>
            <a:ext cx="217200" cy="93000"/>
          </a:xfrm>
          <a:prstGeom prst="triangle">
            <a:avLst>
              <a:gd fmla="val 5034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fa86d56d66_0_971"/>
          <p:cNvSpPr/>
          <p:nvPr/>
        </p:nvSpPr>
        <p:spPr>
          <a:xfrm rot="5400000">
            <a:off x="2119152" y="5719163"/>
            <a:ext cx="217200" cy="120000"/>
          </a:xfrm>
          <a:prstGeom prst="triangle">
            <a:avLst>
              <a:gd fmla="val 5034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fa86d56d66_0_971"/>
          <p:cNvSpPr/>
          <p:nvPr/>
        </p:nvSpPr>
        <p:spPr>
          <a:xfrm rot="5400000">
            <a:off x="6042463" y="5732663"/>
            <a:ext cx="217200" cy="93000"/>
          </a:xfrm>
          <a:prstGeom prst="triangle">
            <a:avLst>
              <a:gd fmla="val 5034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fa86d56d66_0_971"/>
          <p:cNvSpPr txBox="1"/>
          <p:nvPr/>
        </p:nvSpPr>
        <p:spPr>
          <a:xfrm>
            <a:off x="453825" y="307125"/>
            <a:ext cx="7677600" cy="932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36078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21E5B3"/>
                </a:solidFill>
                <a:latin typeface="Heebo"/>
                <a:ea typeface="Heebo"/>
                <a:cs typeface="Heebo"/>
                <a:sym typeface="Heebo"/>
              </a:rPr>
              <a:t>Thank You.</a:t>
            </a:r>
            <a:endParaRPr b="1" i="0" sz="2400" u="none" cap="none" strike="noStrike">
              <a:solidFill>
                <a:srgbClr val="FFFFFF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525" name="Google Shape;525;g3fa86d56d66_0_971"/>
          <p:cNvSpPr/>
          <p:nvPr/>
        </p:nvSpPr>
        <p:spPr>
          <a:xfrm rot="5400000">
            <a:off x="2112045" y="5719163"/>
            <a:ext cx="217200" cy="120000"/>
          </a:xfrm>
          <a:prstGeom prst="triangle">
            <a:avLst>
              <a:gd fmla="val 5034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6" name="Google Shape;526;g3fa86d56d66_0_9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93">
            <a:off x="2923669" y="2149529"/>
            <a:ext cx="3233513" cy="113175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9050">
              <a:srgbClr val="000000">
                <a:alpha val="50196"/>
              </a:srgbClr>
            </a:outerShdw>
          </a:effectLst>
        </p:spPr>
      </p:pic>
      <p:graphicFrame>
        <p:nvGraphicFramePr>
          <p:cNvPr id="527" name="Google Shape;527;g3fa86d56d66_0_971"/>
          <p:cNvGraphicFramePr/>
          <p:nvPr/>
        </p:nvGraphicFramePr>
        <p:xfrm>
          <a:off x="453825" y="363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{FA75D88B-E420-4B70-8462-ACC54954345F}</a:tableStyleId>
              </a:tblPr>
              <a:tblGrid>
                <a:gridCol w="4762500"/>
              </a:tblGrid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2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sng" cap="none" strike="noStrike">
                          <a:solidFill>
                            <a:schemeClr val="lt1"/>
                          </a:solidFill>
                          <a:latin typeface="Heebo"/>
                          <a:ea typeface="Heebo"/>
                          <a:cs typeface="Heebo"/>
                          <a:sym typeface="Heebo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https://www.globant.com/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FFFFFF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fa86d56d66_0_1935"/>
          <p:cNvSpPr txBox="1"/>
          <p:nvPr>
            <p:ph type="title"/>
          </p:nvPr>
        </p:nvSpPr>
        <p:spPr>
          <a:xfrm>
            <a:off x="540307" y="361600"/>
            <a:ext cx="790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Demo Architecture</a:t>
            </a:r>
            <a:endParaRPr/>
          </a:p>
        </p:txBody>
      </p:sp>
      <p:pic>
        <p:nvPicPr>
          <p:cNvPr id="533" name="Google Shape;533;g3fa86d56d66_0_19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1068925"/>
            <a:ext cx="5729224" cy="34554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4" name="Google Shape;534;g3fa86d56d66_0_1935"/>
          <p:cNvGraphicFramePr/>
          <p:nvPr/>
        </p:nvGraphicFramePr>
        <p:xfrm>
          <a:off x="47625" y="124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{FA75D88B-E420-4B70-8462-ACC54954345F}</a:tableStyleId>
              </a:tblPr>
              <a:tblGrid>
                <a:gridCol w="952500"/>
                <a:gridCol w="2028825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Layer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Key packages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User Interface</a:t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Streamlit 1.63.0</a:t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Agents</a:t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LangGraph 1.2.11 · LangChain 1.4.0 · langchain-core 1.6.2</a:t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Model</a:t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langchain-openai 1.6.1 · langchain-anthropic 1.7.1 · openai gpt-4o-mini</a:t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Retrieval</a:t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chromadb 1.5.9 · onnxruntime 1.29.0 · text-splitters 1.1.2</a:t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Telemetry</a:t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openinference 0.1.74 · otel-sdk 1.44.0 · phoenix 20.9.0 · langfuse 4.15.1</a:t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Config</a:t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pydantic 2.13.5 · python-dotenv 1.2.3</a:t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